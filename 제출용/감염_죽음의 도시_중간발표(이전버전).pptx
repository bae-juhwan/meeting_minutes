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73" r:id="rId4"/>
    <p:sldId id="277" r:id="rId5"/>
    <p:sldId id="259" r:id="rId6"/>
    <p:sldId id="262" r:id="rId7"/>
    <p:sldId id="267" r:id="rId8"/>
    <p:sldId id="286" r:id="rId9"/>
    <p:sldId id="268" r:id="rId10"/>
    <p:sldId id="269" r:id="rId11"/>
    <p:sldId id="270" r:id="rId12"/>
    <p:sldId id="285" r:id="rId13"/>
    <p:sldId id="281" r:id="rId14"/>
    <p:sldId id="282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668" y="-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5E539-6FD5-4AFF-B677-869B5A677D1E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AD288-C5DB-467C-8F75-E9312FADA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886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AD288-C5DB-467C-8F75-E9312FADA2B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0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AD288-C5DB-467C-8F75-E9312FADA2B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975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AD288-C5DB-467C-8F75-E9312FADA2B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712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52C9E-B0D3-6D6C-DCB3-9F96451EC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57AE71-6DC4-6233-8CDA-C64206A94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ED914-EF26-2256-FF62-703D9CDF7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BEE5C2-0003-4CC4-5DCA-416BCB03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C3195-01EB-B5E0-606D-9776277D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30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118D3-7A37-7D1E-7663-240170EF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EB4506-F4C9-B2F0-E7C2-936372664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9CC10-54E4-AB1C-1FA5-F93810F4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5F0543-A85E-0E4C-2DFE-116E1D57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3CBEA5-0EE4-506F-91E4-5BAC06A6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66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4A624-EDD8-FAB3-C08D-911F1C21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064114-2BFA-DA05-9A5D-E7B6DFC21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80575-88A4-E959-616E-8599450D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5B3359-8547-3A32-062C-4C928F95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A4711F-D581-4E1F-6BA2-1A2AC9FF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36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AA13E-5BF6-47BA-EEFD-65C7AA31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FE5CB-3B1B-83CA-AA46-CA9FB9B69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0CED2E-8E64-09C1-E041-A85491B0F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CFC55F-6B01-C5FF-D575-DE24AA7F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52FE91-5F8F-1F29-5F4F-634E71E7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46E984-2373-B7B4-83B1-C543AE49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0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4BB95-15A6-4980-4E05-D0E2B3D7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9F9003-FED9-F21A-D8D4-1699D59A9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3D8C63-F147-54B4-1C14-198DAF425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A850D5-587E-E0CE-6F87-2A59BA855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F82BC4-E8A8-2A85-1DAB-F515A1C90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0C6C53-F3D0-8158-0EA8-D84B36A9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9972AA-E09F-223D-C41A-4BDC0237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742504-1423-F788-9552-D65FF8FF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0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66D99-F850-EE99-4A0F-BBAA9CD4D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BB02A6-C901-F334-0D8D-7DBA7AFA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72F973-47D5-04F8-5718-87FB017E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1928D5-9A6C-F840-B7F6-1587F373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72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9633B9-1343-FD65-81D8-C49074E6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C75721-FDD2-B0C6-49C3-429841FE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751132-59F7-1ECA-034F-1FCCD4F6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6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919C3-839F-8A7F-2E42-1C7138DE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844844-4A86-1905-4B17-CC59E48EC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5132A5-32BF-6E72-75CB-D9FC0EB98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15555E-9974-5AE4-1BBA-6C48C4ED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315F6-CBE8-BBF3-03DA-F99CE5B1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66C6FB-77E4-49FC-DEEC-F5415673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79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8C9F7-077C-5DFB-E904-330429CB0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665232-6E8C-77DF-15A4-D11FE666A0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6190FB-8D6B-5229-6DC4-BE9F7F658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E87E98-2182-39D0-BF82-32AF470E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578AE6-23B9-2F48-5EF2-9D8C85331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D46E63-2460-1377-733F-88A07749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3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D7C31-AFD7-4A5F-8D90-BFA666C8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4B6D4E-298F-64A2-9C51-265C6BE3F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FADAE-FB20-E670-9AEC-9CF4D603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C19B9-3AA4-A5B9-82C2-4864BD7C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187B46-62B0-5103-2CC8-3D22F3C6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8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228784-F8A4-F0D1-11C3-AC920A0BA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17362A-171F-5147-3C6F-A11EA2E79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8E57E5-2EC1-862E-51AC-F99EA788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0665DB-0B7D-4BC9-591A-B0F4414A2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47B17-F075-1F98-56AC-10C031F2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99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3EF577-FE75-0327-2E85-3B0FA42B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49C4E9-D128-20A5-658E-807223059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EADB2-AB65-DBD0-1E2F-08ACD3704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3D2002-1229-E194-465C-005EE3F9C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EE562-3823-9922-AB6B-D91F046B3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28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좀비 게임 : Mad Zombie PC 버전 다운로드 - LD플레이어">
            <a:extLst>
              <a:ext uri="{FF2B5EF4-FFF2-40B4-BE49-F238E27FC236}">
                <a16:creationId xmlns:a16="http://schemas.microsoft.com/office/drawing/2014/main" id="{F550C6BC-1087-7C28-6548-3985AE07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>
            <a:fillRect/>
          </a:stretch>
        </p:blipFill>
        <p:spPr bwMode="auto">
          <a:xfrm>
            <a:off x="9256" y="9237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3E88D9E-0B31-6879-5E81-7EE5FA1AC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7760" y="2268186"/>
            <a:ext cx="13700760" cy="1828801"/>
          </a:xfrm>
          <a:solidFill>
            <a:schemeClr val="bg1">
              <a:lumMod val="65000"/>
              <a:lumOff val="35000"/>
              <a:alpha val="53000"/>
            </a:schemeClr>
          </a:solidFill>
        </p:spPr>
        <p:txBody>
          <a:bodyPr>
            <a:normAutofit/>
          </a:bodyPr>
          <a:lstStyle/>
          <a:p>
            <a:r>
              <a:rPr lang="en-US" altLang="ko-KR" b="1" dirty="0"/>
              <a:t>Infection : City of Death </a:t>
            </a:r>
            <a:br>
              <a:rPr lang="en-US" altLang="ko-KR" b="1" dirty="0"/>
            </a:br>
            <a:r>
              <a:rPr lang="ko-KR" altLang="en-US" sz="4000" b="1" i="1" dirty="0"/>
              <a:t>감염 </a:t>
            </a:r>
            <a:r>
              <a:rPr lang="en-US" altLang="ko-KR" sz="4000" b="1" i="1" dirty="0"/>
              <a:t>: </a:t>
            </a:r>
            <a:r>
              <a:rPr lang="ko-KR" altLang="en-US" sz="4000" b="1" i="1" dirty="0"/>
              <a:t>죽음의 도시</a:t>
            </a:r>
            <a:endParaRPr lang="ko-KR" altLang="en-US" i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EEF565-BD09-7E94-31C6-4E08EEB81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8931" y="5382563"/>
            <a:ext cx="4948052" cy="1098395"/>
          </a:xfrm>
        </p:spPr>
        <p:txBody>
          <a:bodyPr>
            <a:normAutofit/>
          </a:bodyPr>
          <a:lstStyle/>
          <a:p>
            <a:r>
              <a:rPr lang="en-US" altLang="ko-KR" sz="1700" b="1" dirty="0">
                <a:solidFill>
                  <a:srgbClr val="FFFFFF"/>
                </a:solidFill>
              </a:rPr>
              <a:t>2021182014 </a:t>
            </a:r>
            <a:r>
              <a:rPr lang="ko-KR" altLang="en-US" sz="1700" b="1" dirty="0" err="1">
                <a:solidFill>
                  <a:srgbClr val="FFFFFF"/>
                </a:solidFill>
              </a:rPr>
              <a:t>박신우</a:t>
            </a:r>
            <a:endParaRPr lang="en-US" altLang="ko-KR" sz="1700" b="1" dirty="0">
              <a:solidFill>
                <a:srgbClr val="FFFFFF"/>
              </a:solidFill>
            </a:endParaRPr>
          </a:p>
          <a:p>
            <a:r>
              <a:rPr lang="en-US" altLang="ko-KR" sz="1700" b="1" dirty="0">
                <a:solidFill>
                  <a:srgbClr val="FFFFFF"/>
                </a:solidFill>
              </a:rPr>
              <a:t>2023182021 </a:t>
            </a:r>
            <a:r>
              <a:rPr lang="ko-KR" altLang="en-US" sz="1700" b="1" dirty="0">
                <a:solidFill>
                  <a:srgbClr val="FFFFFF"/>
                </a:solidFill>
              </a:rPr>
              <a:t>안윤진</a:t>
            </a:r>
            <a:endParaRPr lang="en-US" altLang="ko-KR" sz="1700" b="1" dirty="0">
              <a:solidFill>
                <a:srgbClr val="FFFFFF"/>
              </a:solidFill>
            </a:endParaRPr>
          </a:p>
          <a:p>
            <a:r>
              <a:rPr lang="en-US" altLang="ko-KR" sz="1700" b="1" dirty="0">
                <a:solidFill>
                  <a:srgbClr val="FFFFFF"/>
                </a:solidFill>
              </a:rPr>
              <a:t>2021184015 </a:t>
            </a:r>
            <a:r>
              <a:rPr lang="ko-KR" altLang="en-US" sz="1700" b="1" dirty="0" err="1">
                <a:solidFill>
                  <a:srgbClr val="FFFFFF"/>
                </a:solidFill>
              </a:rPr>
              <a:t>배주환</a:t>
            </a:r>
            <a:endParaRPr lang="ko-KR" altLang="en-US" sz="1700" b="1" dirty="0">
              <a:solidFill>
                <a:srgbClr val="FFFFFF"/>
              </a:solidFill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19ACF64-6486-6A44-DFF1-23B03E0FE921}"/>
              </a:ext>
            </a:extLst>
          </p:cNvPr>
          <p:cNvSpPr txBox="1">
            <a:spLocks/>
          </p:cNvSpPr>
          <p:nvPr/>
        </p:nvSpPr>
        <p:spPr>
          <a:xfrm>
            <a:off x="1524000" y="513492"/>
            <a:ext cx="9144000" cy="727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i="1" u="sng" dirty="0"/>
              <a:t>중간발표</a:t>
            </a:r>
          </a:p>
        </p:txBody>
      </p:sp>
    </p:spTree>
    <p:extLst>
      <p:ext uri="{BB962C8B-B14F-4D97-AF65-F5344CB8AC3E}">
        <p14:creationId xmlns:p14="http://schemas.microsoft.com/office/powerpoint/2010/main" val="3121613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좀비 게임 : Mad Zombie PC 버전 다운로드 - LD플레이어">
            <a:extLst>
              <a:ext uri="{FF2B5EF4-FFF2-40B4-BE49-F238E27FC236}">
                <a16:creationId xmlns:a16="http://schemas.microsoft.com/office/drawing/2014/main" id="{3D8754F3-956D-261A-E7F6-190EC1024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176AAC-364E-04CD-50E3-F3BD125A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 err="1">
                <a:solidFill>
                  <a:srgbClr val="FFFFFF"/>
                </a:solidFill>
              </a:rPr>
              <a:t>ㅣ</a:t>
            </a:r>
            <a:r>
              <a:rPr lang="ko-KR" altLang="en-US" sz="3600" b="1" dirty="0">
                <a:solidFill>
                  <a:srgbClr val="FFFFFF"/>
                </a:solidFill>
              </a:rPr>
              <a:t> 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B25246-5FEF-36E8-E6B0-F88B153CF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0" y="1889125"/>
            <a:ext cx="6718300" cy="4351338"/>
          </a:xfrm>
        </p:spPr>
        <p:txBody>
          <a:bodyPr anchor="ctr">
            <a:normAutofit fontScale="92500"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게임 소개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구성원 역할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기술 요소</a:t>
            </a:r>
            <a:r>
              <a:rPr lang="en-US" altLang="ko-KR" sz="2400" b="1" dirty="0">
                <a:solidFill>
                  <a:srgbClr val="FFFFFF"/>
                </a:solidFill>
              </a:rPr>
              <a:t>/</a:t>
            </a:r>
            <a:r>
              <a:rPr lang="ko-KR" altLang="en-US" sz="2400" b="1" dirty="0">
                <a:solidFill>
                  <a:srgbClr val="FFFFFF"/>
                </a:solidFill>
              </a:rPr>
              <a:t>중점 연구분야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개발 내용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문제점 및 보안책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향후 개발 일정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데모 시연</a:t>
            </a:r>
            <a:endParaRPr lang="en-US" altLang="ko-KR" sz="2000" b="1" dirty="0">
              <a:solidFill>
                <a:srgbClr val="FFFFFF"/>
              </a:solidFill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99582A2-1E75-CEC4-6351-F2BF967FCD1E}"/>
              </a:ext>
            </a:extLst>
          </p:cNvPr>
          <p:cNvSpPr txBox="1">
            <a:spLocks/>
          </p:cNvSpPr>
          <p:nvPr/>
        </p:nvSpPr>
        <p:spPr>
          <a:xfrm>
            <a:off x="6921500" y="1889125"/>
            <a:ext cx="55753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0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206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레포데2, 무료배포에 스팀 사이트 다운…어떤 게임이기에? - 머니투데이">
            <a:extLst>
              <a:ext uri="{FF2B5EF4-FFF2-40B4-BE49-F238E27FC236}">
                <a16:creationId xmlns:a16="http://schemas.microsoft.com/office/drawing/2014/main" id="{EF149B1C-F124-0192-1963-D2F1C3FC61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4" b="5636"/>
          <a:stretch>
            <a:fillRect/>
          </a:stretch>
        </p:blipFill>
        <p:spPr bwMode="auto">
          <a:xfrm>
            <a:off x="20" y="-66676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8C89823-53E2-3892-A253-87D1C92FA4AB}"/>
              </a:ext>
            </a:extLst>
          </p:cNvPr>
          <p:cNvSpPr/>
          <p:nvPr/>
        </p:nvSpPr>
        <p:spPr>
          <a:xfrm>
            <a:off x="-2552701" y="-1381922"/>
            <a:ext cx="12191979" cy="10012680"/>
          </a:xfrm>
          <a:prstGeom prst="ellipse">
            <a:avLst/>
          </a:prstGeom>
          <a:solidFill>
            <a:schemeClr val="dk1">
              <a:alpha val="41000"/>
            </a:schemeClr>
          </a:solidFill>
          <a:ln>
            <a:noFill/>
          </a:ln>
          <a:effectLst>
            <a:softEdge rad="6223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F1BBF-783F-C618-DB88-5A77B549D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381" y="2121498"/>
            <a:ext cx="5759059" cy="3742762"/>
          </a:xfrm>
        </p:spPr>
        <p:txBody>
          <a:bodyPr>
            <a:normAutofit/>
          </a:bodyPr>
          <a:lstStyle/>
          <a:p>
            <a:r>
              <a:rPr lang="ko-KR" altLang="en-US" sz="2400" b="1" dirty="0"/>
              <a:t>이름</a:t>
            </a:r>
            <a:r>
              <a:rPr lang="ko-KR" altLang="en-US" sz="2400" dirty="0"/>
              <a:t> </a:t>
            </a:r>
            <a:r>
              <a:rPr lang="en-US" altLang="ko-KR" sz="2400" dirty="0"/>
              <a:t>:	</a:t>
            </a:r>
            <a:r>
              <a:rPr lang="en-US" altLang="ko-KR" sz="2400" b="1" i="1" dirty="0"/>
              <a:t>Infection : City of Death </a:t>
            </a:r>
          </a:p>
          <a:p>
            <a:pPr marL="0" indent="0">
              <a:buNone/>
            </a:pPr>
            <a:r>
              <a:rPr lang="en-US" altLang="ko-KR" sz="2400" b="1" i="1" dirty="0"/>
              <a:t>		(</a:t>
            </a:r>
            <a:r>
              <a:rPr lang="ko-KR" altLang="en-US" sz="2400" b="1" i="1" dirty="0"/>
              <a:t>감염 </a:t>
            </a:r>
            <a:r>
              <a:rPr lang="en-US" altLang="ko-KR" sz="2400" b="1" i="1" dirty="0"/>
              <a:t>: </a:t>
            </a:r>
            <a:r>
              <a:rPr lang="ko-KR" altLang="en-US" sz="2400" b="1" i="1" dirty="0"/>
              <a:t>죽음의 도시</a:t>
            </a:r>
            <a:r>
              <a:rPr lang="en-US" altLang="ko-KR" sz="2400" b="1" i="1" dirty="0"/>
              <a:t>)</a:t>
            </a:r>
          </a:p>
          <a:p>
            <a:endParaRPr lang="en-US" altLang="ko-KR" sz="2400" b="1" dirty="0"/>
          </a:p>
          <a:p>
            <a:r>
              <a:rPr lang="ko-KR" altLang="en-US" sz="2400" b="1" dirty="0"/>
              <a:t>인원 </a:t>
            </a:r>
            <a:r>
              <a:rPr lang="en-US" altLang="ko-KR" sz="2400" b="1" dirty="0"/>
              <a:t>:  	</a:t>
            </a:r>
            <a:r>
              <a:rPr lang="en-US" altLang="ko-KR" sz="2400" b="1" i="1" u="sng" dirty="0"/>
              <a:t>3</a:t>
            </a:r>
            <a:r>
              <a:rPr lang="ko-KR" altLang="en-US" sz="2400" b="1" i="1" u="sng" dirty="0"/>
              <a:t>인  고정 </a:t>
            </a:r>
            <a:r>
              <a:rPr lang="ko-KR" altLang="en-US" sz="2400" b="1" i="1" dirty="0"/>
              <a:t>플레이</a:t>
            </a:r>
            <a:endParaRPr lang="en-US" altLang="ko-KR" sz="2400" b="1" i="1" dirty="0"/>
          </a:p>
          <a:p>
            <a:endParaRPr lang="en-US" altLang="ko-KR" sz="2400" b="1" dirty="0"/>
          </a:p>
          <a:p>
            <a:r>
              <a:rPr lang="ko-KR" altLang="en-US" sz="2400" b="1" dirty="0"/>
              <a:t>장르 </a:t>
            </a:r>
            <a:r>
              <a:rPr lang="en-US" altLang="ko-KR" sz="2400" b="1" dirty="0"/>
              <a:t>: 	#</a:t>
            </a:r>
            <a:r>
              <a:rPr lang="en-US" altLang="ko-KR" sz="2600" b="1" i="1" dirty="0"/>
              <a:t>TPS(1,3</a:t>
            </a:r>
            <a:r>
              <a:rPr lang="ko-KR" altLang="en-US" sz="2600" b="1" i="1" dirty="0"/>
              <a:t>인칭 슈팅 게임</a:t>
            </a:r>
            <a:r>
              <a:rPr lang="en-US" altLang="ko-KR" sz="2600" b="1" i="1" dirty="0"/>
              <a:t>) </a:t>
            </a:r>
          </a:p>
          <a:p>
            <a:pPr marL="0" indent="0">
              <a:buNone/>
            </a:pPr>
            <a:r>
              <a:rPr lang="en-US" altLang="ko-KR" sz="2600" b="1" i="1" dirty="0"/>
              <a:t>		#</a:t>
            </a:r>
            <a:r>
              <a:rPr lang="ko-KR" altLang="en-US" sz="2600" b="1" i="1" dirty="0"/>
              <a:t>디펜스 </a:t>
            </a:r>
            <a:r>
              <a:rPr lang="en-US" altLang="ko-KR" sz="2600" b="1" i="1" dirty="0"/>
              <a:t> #</a:t>
            </a:r>
            <a:r>
              <a:rPr lang="ko-KR" altLang="en-US" sz="2600" b="1" i="1" dirty="0"/>
              <a:t>좀비 </a:t>
            </a:r>
            <a:r>
              <a:rPr lang="en-US" altLang="ko-KR" sz="2600" b="1" i="1" dirty="0"/>
              <a:t> #</a:t>
            </a:r>
            <a:r>
              <a:rPr lang="ko-KR" altLang="en-US" sz="2600" b="1" i="1" dirty="0"/>
              <a:t>협동</a:t>
            </a:r>
            <a:endParaRPr lang="en-US" altLang="ko-KR" sz="2600" b="1" i="1" dirty="0"/>
          </a:p>
          <a:p>
            <a:endParaRPr lang="ko-KR" altLang="en-US" sz="2000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FED6A68-DF8A-B48B-0093-43D8572F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01</a:t>
            </a:r>
            <a:r>
              <a:rPr lang="ko-KR" altLang="en-US" sz="3200" b="1" dirty="0"/>
              <a:t> 게임 소개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기본 설명</a:t>
            </a:r>
            <a:br>
              <a:rPr lang="en-US" altLang="ko-KR" sz="2800" b="1" dirty="0"/>
            </a:b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3605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AF970-29F6-1E64-BAD8-63312328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2061">
            <a:extLst>
              <a:ext uri="{FF2B5EF4-FFF2-40B4-BE49-F238E27FC236}">
                <a16:creationId xmlns:a16="http://schemas.microsoft.com/office/drawing/2014/main" id="{F251A801-BB64-8408-7552-04123F976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레포데2, 무료배포에 스팀 사이트 다운…어떤 게임이기에? - 머니투데이">
            <a:extLst>
              <a:ext uri="{FF2B5EF4-FFF2-40B4-BE49-F238E27FC236}">
                <a16:creationId xmlns:a16="http://schemas.microsoft.com/office/drawing/2014/main" id="{47498F8B-E21F-5B32-09B0-D6F162D84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4" b="5636"/>
          <a:stretch>
            <a:fillRect/>
          </a:stretch>
        </p:blipFill>
        <p:spPr bwMode="auto">
          <a:xfrm>
            <a:off x="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DC0F5C3-B6F7-0597-BFA6-B87A6D9CD32C}"/>
              </a:ext>
            </a:extLst>
          </p:cNvPr>
          <p:cNvSpPr/>
          <p:nvPr/>
        </p:nvSpPr>
        <p:spPr>
          <a:xfrm>
            <a:off x="250619" y="563880"/>
            <a:ext cx="11690742" cy="6294119"/>
          </a:xfrm>
          <a:prstGeom prst="ellipse">
            <a:avLst/>
          </a:prstGeom>
          <a:solidFill>
            <a:schemeClr val="dk1">
              <a:alpha val="60000"/>
            </a:schemeClr>
          </a:solidFill>
          <a:ln>
            <a:noFill/>
          </a:ln>
          <a:effectLst>
            <a:softEdge rad="6223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1A15DA-FB3C-E77C-B31A-5602B063E249}"/>
              </a:ext>
            </a:extLst>
          </p:cNvPr>
          <p:cNvSpPr txBox="1">
            <a:spLocks/>
          </p:cNvSpPr>
          <p:nvPr/>
        </p:nvSpPr>
        <p:spPr>
          <a:xfrm>
            <a:off x="1584042" y="2410777"/>
            <a:ext cx="8337198" cy="4741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800" i="1" dirty="0"/>
              <a:t>좀비 바이러스가 창궐하는 </a:t>
            </a:r>
            <a:r>
              <a:rPr lang="ko-KR" altLang="en-US" sz="1800" i="1" dirty="0" err="1"/>
              <a:t>아포칼립스</a:t>
            </a:r>
            <a:r>
              <a:rPr lang="ko-KR" altLang="en-US" sz="1800" i="1" dirty="0"/>
              <a:t> 세계관 속</a:t>
            </a:r>
            <a:r>
              <a:rPr lang="en-US" altLang="ko-KR" sz="1800" i="1" dirty="0"/>
              <a:t>.. </a:t>
            </a:r>
          </a:p>
          <a:p>
            <a:pPr marL="0" indent="0" algn="ctr">
              <a:buNone/>
            </a:pPr>
            <a:r>
              <a:rPr lang="ko-KR" altLang="en-US" sz="1800" i="1" dirty="0"/>
              <a:t>이미 감염된 도시를 탈출하기 위해 </a:t>
            </a:r>
            <a:r>
              <a:rPr lang="en-US" altLang="ko-KR" sz="1800" i="1" dirty="0"/>
              <a:t>3</a:t>
            </a:r>
            <a:r>
              <a:rPr lang="ko-KR" altLang="en-US" sz="1800" i="1" dirty="0"/>
              <a:t>명이 모였다</a:t>
            </a:r>
            <a:r>
              <a:rPr lang="en-US" altLang="ko-KR" sz="1800" i="1" dirty="0"/>
              <a:t>. </a:t>
            </a:r>
          </a:p>
          <a:p>
            <a:pPr marL="0" indent="0" algn="ctr">
              <a:buNone/>
            </a:pPr>
            <a:r>
              <a:rPr lang="ko-KR" altLang="en-US" sz="1800" i="1" dirty="0"/>
              <a:t>탈출할 방법은 오직 </a:t>
            </a:r>
            <a:r>
              <a:rPr lang="ko-KR" altLang="en-US" sz="1800" b="1" i="1" dirty="0"/>
              <a:t>다리를 건너 도시를 탈출하는 방법 뿐</a:t>
            </a:r>
            <a:r>
              <a:rPr lang="en-US" altLang="ko-KR" sz="1800" b="1" i="1" dirty="0"/>
              <a:t>..! </a:t>
            </a:r>
          </a:p>
          <a:p>
            <a:pPr marL="0" indent="0" algn="ctr">
              <a:buNone/>
            </a:pPr>
            <a:r>
              <a:rPr lang="ko-KR" altLang="en-US" sz="1800" b="1" i="1" dirty="0"/>
              <a:t>한 대 남은 트럭</a:t>
            </a:r>
            <a:r>
              <a:rPr lang="ko-KR" altLang="en-US" sz="1800" i="1" dirty="0"/>
              <a:t>에 필요한 것들을 챙겨 빠른 시간안에 탈출해야 한다</a:t>
            </a:r>
            <a:r>
              <a:rPr lang="en-US" altLang="ko-KR" sz="1800" i="1" dirty="0"/>
              <a:t>. </a:t>
            </a:r>
          </a:p>
          <a:p>
            <a:pPr marL="0" indent="0" algn="ctr">
              <a:buNone/>
            </a:pPr>
            <a:endParaRPr lang="en-US" altLang="ko-KR" sz="1800" i="1" dirty="0"/>
          </a:p>
          <a:p>
            <a:pPr marL="0" indent="0" algn="ctr">
              <a:buNone/>
            </a:pPr>
            <a:r>
              <a:rPr lang="ko-KR" altLang="en-US" sz="2000" b="1" i="1" u="sng" dirty="0"/>
              <a:t>쫓아오는 좀비와 전투하며 목표 지점까지 도달하라</a:t>
            </a:r>
            <a:r>
              <a:rPr lang="en-US" altLang="ko-KR" sz="2000" b="1" i="1" u="sng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2977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710ABF4-CD11-70F4-056B-128BF39B29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584877"/>
              </p:ext>
            </p:extLst>
          </p:nvPr>
        </p:nvGraphicFramePr>
        <p:xfrm>
          <a:off x="1396480" y="1309550"/>
          <a:ext cx="9620565" cy="5478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5189">
                  <a:extLst>
                    <a:ext uri="{9D8B030D-6E8A-4147-A177-3AD203B41FA5}">
                      <a16:colId xmlns:a16="http://schemas.microsoft.com/office/drawing/2014/main" val="1046691492"/>
                    </a:ext>
                  </a:extLst>
                </a:gridCol>
                <a:gridCol w="3647688">
                  <a:extLst>
                    <a:ext uri="{9D8B030D-6E8A-4147-A177-3AD203B41FA5}">
                      <a16:colId xmlns:a16="http://schemas.microsoft.com/office/drawing/2014/main" val="1875094405"/>
                    </a:ext>
                  </a:extLst>
                </a:gridCol>
                <a:gridCol w="3647688">
                  <a:extLst>
                    <a:ext uri="{9D8B030D-6E8A-4147-A177-3AD203B41FA5}">
                      <a16:colId xmlns:a16="http://schemas.microsoft.com/office/drawing/2014/main" val="3694969651"/>
                    </a:ext>
                  </a:extLst>
                </a:gridCol>
              </a:tblGrid>
              <a:tr h="702902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1</a:t>
                      </a:r>
                      <a:r>
                        <a:rPr lang="ko-KR" altLang="en-US" sz="1800" b="1" dirty="0"/>
                        <a:t>스테이지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2</a:t>
                      </a:r>
                      <a:r>
                        <a:rPr lang="ko-KR" altLang="en-US" sz="1800" b="1" dirty="0"/>
                        <a:t>스테이지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954265"/>
                  </a:ext>
                </a:extLst>
              </a:tr>
              <a:tr h="590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핵심 콘텐츠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파밍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운전 </a:t>
                      </a:r>
                      <a:r>
                        <a:rPr lang="en-US" altLang="ko-KR" sz="1600" dirty="0"/>
                        <a:t>&amp; </a:t>
                      </a:r>
                      <a:r>
                        <a:rPr lang="ko-KR" altLang="en-US" sz="1600" dirty="0"/>
                        <a:t>전투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207071"/>
                  </a:ext>
                </a:extLst>
              </a:tr>
              <a:tr h="8164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여러 주택이 모여 있는 마을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황폐하고 좀비가 깔린 도시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87294"/>
                  </a:ext>
                </a:extLst>
              </a:tr>
              <a:tr h="15553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세부 </a:t>
                      </a:r>
                      <a:r>
                        <a:rPr lang="en-US" altLang="ko-KR" sz="1800" b="1" dirty="0"/>
                        <a:t>/ </a:t>
                      </a:r>
                      <a:r>
                        <a:rPr lang="ko-KR" altLang="en-US" sz="1800" b="1" dirty="0"/>
                        <a:t>기타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시간 제한</a:t>
                      </a:r>
                      <a:r>
                        <a:rPr lang="en-US" altLang="ko-KR" sz="1600" dirty="0"/>
                        <a:t>O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탈출할 차 강화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기관총 장착</a:t>
                      </a:r>
                      <a:r>
                        <a:rPr lang="en-US" altLang="ko-KR" sz="1600" dirty="0"/>
                        <a:t>, </a:t>
                      </a:r>
                    </a:p>
                    <a:p>
                      <a:pPr algn="ctr" latinLnBrk="1"/>
                      <a:r>
                        <a:rPr lang="ko-KR" altLang="en-US" sz="1600" strike="sngStrike" dirty="0"/>
                        <a:t>좀비를 칠 수 있는 무기 장착</a:t>
                      </a:r>
                      <a:r>
                        <a:rPr lang="en-US" altLang="ko-KR" sz="1600" strike="sngStrike" dirty="0"/>
                        <a:t>)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무기 </a:t>
                      </a:r>
                      <a:r>
                        <a:rPr lang="ko-KR" altLang="en-US" sz="1600" dirty="0" err="1"/>
                        <a:t>파밍</a:t>
                      </a:r>
                      <a:endParaRPr lang="en-US" altLang="ko-K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차의 체력을 지키며 목적지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다리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까지 도착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 - </a:t>
                      </a:r>
                      <a:r>
                        <a:rPr lang="ko-KR" altLang="en-US" sz="1600" dirty="0"/>
                        <a:t>중간마다 장애물</a:t>
                      </a:r>
                      <a:r>
                        <a:rPr lang="en-US" altLang="ko-KR" sz="1600" dirty="0"/>
                        <a:t>O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559009"/>
                  </a:ext>
                </a:extLst>
              </a:tr>
              <a:tr h="1813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핵심 콘텐츠 </a:t>
                      </a:r>
                      <a:endParaRPr lang="en-US" altLang="ko-KR" sz="1800" b="1" dirty="0"/>
                    </a:p>
                    <a:p>
                      <a:pPr algn="ctr" latinLnBrk="1"/>
                      <a:r>
                        <a:rPr lang="ko-KR" altLang="en-US" sz="1800" b="1" dirty="0"/>
                        <a:t>예시 사진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525990"/>
                  </a:ext>
                </a:extLst>
              </a:tr>
            </a:tbl>
          </a:graphicData>
        </a:graphic>
      </p:graphicFrame>
      <p:pic>
        <p:nvPicPr>
          <p:cNvPr id="3" name="그림 2" descr="바퀴, 타이어, 차량, 육상 차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15FADF-98F8-F15A-A76C-630C65C20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38" y="5012411"/>
            <a:ext cx="2859939" cy="1747344"/>
          </a:xfrm>
          <a:prstGeom prst="rect">
            <a:avLst/>
          </a:prstGeom>
        </p:spPr>
      </p:pic>
      <p:pic>
        <p:nvPicPr>
          <p:cNvPr id="5" name="그림 4" descr="하늘, 육상 차량, 차량, 자동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58AD6E-1D63-AD2B-42B5-A198BA6A8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98" t="3296" r="8544" b="8865"/>
          <a:stretch>
            <a:fillRect/>
          </a:stretch>
        </p:blipFill>
        <p:spPr>
          <a:xfrm>
            <a:off x="4241025" y="5025473"/>
            <a:ext cx="2775857" cy="1665977"/>
          </a:xfrm>
          <a:prstGeom prst="rect">
            <a:avLst/>
          </a:prstGeom>
        </p:spPr>
      </p:pic>
      <p:sp>
        <p:nvSpPr>
          <p:cNvPr id="10" name="제목 9">
            <a:extLst>
              <a:ext uri="{FF2B5EF4-FFF2-40B4-BE49-F238E27FC236}">
                <a16:creationId xmlns:a16="http://schemas.microsoft.com/office/drawing/2014/main" id="{A4B0D183-CAB6-BB53-6AA5-24160944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01</a:t>
            </a:r>
            <a:r>
              <a:rPr lang="ko-KR" altLang="en-US" sz="3200" b="1" dirty="0"/>
              <a:t> 게임 소개 </a:t>
            </a:r>
            <a:r>
              <a:rPr lang="en-US" altLang="ko-KR" sz="3200" b="1" dirty="0"/>
              <a:t>- </a:t>
            </a:r>
            <a:r>
              <a:rPr lang="ko-KR" altLang="en-US" sz="2400" b="1" dirty="0"/>
              <a:t>플레이 흐름</a:t>
            </a:r>
            <a:br>
              <a:rPr lang="en-US" altLang="ko-KR" sz="2400" dirty="0"/>
            </a:b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1064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5">
            <a:extLst>
              <a:ext uri="{FF2B5EF4-FFF2-40B4-BE49-F238E27FC236}">
                <a16:creationId xmlns:a16="http://schemas.microsoft.com/office/drawing/2014/main" id="{BA63A173-FDBC-9FFC-5336-514FC5A6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02 </a:t>
            </a:r>
            <a:r>
              <a:rPr lang="ko-KR" altLang="en-US" sz="3200" b="1" dirty="0"/>
              <a:t>구성원 역할</a:t>
            </a:r>
            <a:br>
              <a:rPr lang="en-US" altLang="ko-KR" sz="2400" b="1" dirty="0"/>
            </a:br>
            <a:endParaRPr lang="ko-KR" altLang="en-US" sz="28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3E18B4-41CC-391D-3213-9DC56A80B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08064"/>
              </p:ext>
            </p:extLst>
          </p:nvPr>
        </p:nvGraphicFramePr>
        <p:xfrm>
          <a:off x="2032000" y="2243666"/>
          <a:ext cx="8127999" cy="307558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0504761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969573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20513283"/>
                    </a:ext>
                  </a:extLst>
                </a:gridCol>
              </a:tblGrid>
              <a:tr h="6151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박신우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배주환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안윤진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717679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932012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279136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538121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105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859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F6352-A32D-8CBB-6900-C4BC7EA37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03</a:t>
            </a:r>
            <a:r>
              <a:rPr lang="ko-KR" altLang="en-US" sz="3200" b="1" dirty="0"/>
              <a:t> 기술 요소</a:t>
            </a:r>
            <a:r>
              <a:rPr lang="en-US" altLang="ko-KR" sz="3200" b="1" dirty="0"/>
              <a:t>/</a:t>
            </a:r>
            <a:r>
              <a:rPr lang="ko-KR" altLang="en-US" sz="3200" b="1" dirty="0"/>
              <a:t>중점연구 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D627390-4FD3-2D06-F2DE-423F4B665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234784"/>
              </p:ext>
            </p:extLst>
          </p:nvPr>
        </p:nvGraphicFramePr>
        <p:xfrm>
          <a:off x="651509" y="1880134"/>
          <a:ext cx="10888981" cy="39491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9018">
                  <a:extLst>
                    <a:ext uri="{9D8B030D-6E8A-4147-A177-3AD203B41FA5}">
                      <a16:colId xmlns:a16="http://schemas.microsoft.com/office/drawing/2014/main" val="2536590270"/>
                    </a:ext>
                  </a:extLst>
                </a:gridCol>
                <a:gridCol w="8079963">
                  <a:extLst>
                    <a:ext uri="{9D8B030D-6E8A-4147-A177-3AD203B41FA5}">
                      <a16:colId xmlns:a16="http://schemas.microsoft.com/office/drawing/2014/main" val="2650360707"/>
                    </a:ext>
                  </a:extLst>
                </a:gridCol>
              </a:tblGrid>
              <a:tr h="591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박신우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-</a:t>
                      </a:r>
                      <a:r>
                        <a:rPr lang="ko-KR" altLang="en-US" dirty="0"/>
                        <a:t> 좀비 피격 시 해당 위치의 분리</a:t>
                      </a:r>
                      <a:r>
                        <a:rPr lang="en-US" altLang="ko-KR" dirty="0"/>
                        <a:t>( </a:t>
                      </a:r>
                      <a:r>
                        <a:rPr lang="ko-KR" altLang="en-US" dirty="0" err="1"/>
                        <a:t>래그돌</a:t>
                      </a:r>
                      <a:r>
                        <a:rPr lang="ko-KR" altLang="en-US" dirty="0"/>
                        <a:t> 효과 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055048"/>
                  </a:ext>
                </a:extLst>
              </a:tr>
              <a:tr h="2335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배주환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- IOCP </a:t>
                      </a:r>
                      <a:r>
                        <a:rPr lang="ko-KR" altLang="en-US" dirty="0"/>
                        <a:t>기반 서버 구조 및 </a:t>
                      </a:r>
                      <a:r>
                        <a:rPr lang="ko-KR" altLang="en-US" dirty="0" err="1"/>
                        <a:t>멀티스레드</a:t>
                      </a:r>
                      <a:r>
                        <a:rPr lang="ko-KR" altLang="en-US" dirty="0"/>
                        <a:t> 병렬 처리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NPC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 서버 처리 및 부하 최적화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실시간 동기화 성능 개선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서버 시간 충돌 판정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클라 내부 판정 </a:t>
                      </a:r>
                      <a:r>
                        <a:rPr lang="en-US" altLang="ko-KR" dirty="0"/>
                        <a:t>X, </a:t>
                      </a:r>
                      <a:r>
                        <a:rPr lang="ko-KR" altLang="en-US" dirty="0"/>
                        <a:t>좌표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방향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탄도 기반으로 서버 내에서 피격 판정 </a:t>
                      </a:r>
                      <a:r>
                        <a:rPr lang="ko-KR" altLang="en-US" dirty="0" err="1"/>
                        <a:t>재검증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802056"/>
                  </a:ext>
                </a:extLst>
              </a:tr>
              <a:tr h="10217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안윤진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 err="1"/>
                        <a:t>언리얼</a:t>
                      </a:r>
                      <a:r>
                        <a:rPr lang="ko-KR" altLang="en-US" dirty="0"/>
                        <a:t> 엔진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의 나이아가라 시스템을 통해 맵 환경 제작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피격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충돌 상황                 에 맞는 이펙트 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90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800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6EC99-B6DD-690C-9C40-CB511F06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98029-4BCB-AF54-D5F4-28F65045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03</a:t>
            </a:r>
            <a:r>
              <a:rPr lang="ko-KR" altLang="en-US" sz="3200" b="1" dirty="0"/>
              <a:t> 기술 요소</a:t>
            </a:r>
            <a:r>
              <a:rPr lang="en-US" altLang="ko-KR" sz="3200" b="1" dirty="0"/>
              <a:t>/</a:t>
            </a:r>
            <a:r>
              <a:rPr lang="ko-KR" altLang="en-US" sz="3200" b="1" dirty="0"/>
              <a:t>중점연구 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2AB5E67-4DA8-5689-ABFD-E2E654F6F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888455"/>
              </p:ext>
            </p:extLst>
          </p:nvPr>
        </p:nvGraphicFramePr>
        <p:xfrm>
          <a:off x="1089742" y="3059744"/>
          <a:ext cx="10012515" cy="210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503">
                  <a:extLst>
                    <a:ext uri="{9D8B030D-6E8A-4147-A177-3AD203B41FA5}">
                      <a16:colId xmlns:a16="http://schemas.microsoft.com/office/drawing/2014/main" val="3174496282"/>
                    </a:ext>
                  </a:extLst>
                </a:gridCol>
                <a:gridCol w="2002503">
                  <a:extLst>
                    <a:ext uri="{9D8B030D-6E8A-4147-A177-3AD203B41FA5}">
                      <a16:colId xmlns:a16="http://schemas.microsoft.com/office/drawing/2014/main" val="71352833"/>
                    </a:ext>
                  </a:extLst>
                </a:gridCol>
                <a:gridCol w="2002503">
                  <a:extLst>
                    <a:ext uri="{9D8B030D-6E8A-4147-A177-3AD203B41FA5}">
                      <a16:colId xmlns:a16="http://schemas.microsoft.com/office/drawing/2014/main" val="3956487614"/>
                    </a:ext>
                  </a:extLst>
                </a:gridCol>
                <a:gridCol w="2002503">
                  <a:extLst>
                    <a:ext uri="{9D8B030D-6E8A-4147-A177-3AD203B41FA5}">
                      <a16:colId xmlns:a16="http://schemas.microsoft.com/office/drawing/2014/main" val="4191048943"/>
                    </a:ext>
                  </a:extLst>
                </a:gridCol>
                <a:gridCol w="2002503">
                  <a:extLst>
                    <a:ext uri="{9D8B030D-6E8A-4147-A177-3AD203B41FA5}">
                      <a16:colId xmlns:a16="http://schemas.microsoft.com/office/drawing/2014/main" val="2487013601"/>
                    </a:ext>
                  </a:extLst>
                </a:gridCol>
              </a:tblGrid>
              <a:tr h="2102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레그돌</a:t>
                      </a:r>
                      <a:r>
                        <a:rPr lang="ko-KR" altLang="en-US" dirty="0"/>
                        <a:t>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멀티 플레이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이펙트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112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51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21F78-2673-D2D1-7789-0659598C2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연구 목적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C478A1-F81B-75E5-9ED3-8B398F2AE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508112"/>
              </p:ext>
            </p:extLst>
          </p:nvPr>
        </p:nvGraphicFramePr>
        <p:xfrm>
          <a:off x="1746250" y="2016124"/>
          <a:ext cx="8699500" cy="3868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699500">
                  <a:extLst>
                    <a:ext uri="{9D8B030D-6E8A-4147-A177-3AD203B41FA5}">
                      <a16:colId xmlns:a16="http://schemas.microsoft.com/office/drawing/2014/main" val="737860128"/>
                    </a:ext>
                  </a:extLst>
                </a:gridCol>
              </a:tblGrid>
              <a:tr h="6755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Git </a:t>
                      </a:r>
                      <a:r>
                        <a:rPr lang="ko-KR" altLang="en-US" sz="1800" b="0" dirty="0"/>
                        <a:t>기반 버전</a:t>
                      </a:r>
                      <a:r>
                        <a:rPr lang="en-US" altLang="ko-KR" sz="1800" b="0" dirty="0"/>
                        <a:t>/</a:t>
                      </a:r>
                      <a:r>
                        <a:rPr lang="ko-KR" altLang="en-US" sz="1800" b="0" dirty="0" err="1"/>
                        <a:t>브랜치</a:t>
                      </a:r>
                      <a:r>
                        <a:rPr lang="ko-KR" altLang="en-US" sz="1800" b="0" dirty="0"/>
                        <a:t> 관리 경험을 통한 실무 소프트웨어 개발 역량 강화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0826160"/>
                  </a:ext>
                </a:extLst>
              </a:tr>
              <a:tr h="1166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/>
                        <a:t>실시간 </a:t>
                      </a:r>
                      <a:r>
                        <a:rPr lang="ko-KR" altLang="en-US" sz="1800" b="0" dirty="0" err="1"/>
                        <a:t>메쉬</a:t>
                      </a:r>
                      <a:r>
                        <a:rPr lang="ko-KR" altLang="en-US" sz="1800" b="0" dirty="0"/>
                        <a:t> 갱신</a:t>
                      </a:r>
                      <a:r>
                        <a:rPr lang="en-US" altLang="ko-KR" sz="1800" b="0" dirty="0"/>
                        <a:t>, </a:t>
                      </a:r>
                      <a:r>
                        <a:rPr lang="ko-KR" altLang="en-US" sz="1800" b="0" dirty="0"/>
                        <a:t>렌더링 및 변형된 메시와 물리엔진 동기화 등 </a:t>
                      </a:r>
                      <a:endParaRPr lang="en-US" altLang="ko-KR" sz="18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/>
                        <a:t>절차적 </a:t>
                      </a:r>
                      <a:r>
                        <a:rPr lang="ko-KR" altLang="en-US" sz="1800" b="0" dirty="0" err="1"/>
                        <a:t>메쉬</a:t>
                      </a:r>
                      <a:r>
                        <a:rPr lang="ko-KR" altLang="en-US" sz="1800" b="0" dirty="0"/>
                        <a:t> 기반의 기술적 도전 과제 해결</a:t>
                      </a:r>
                      <a:endParaRPr lang="en-US" altLang="ko-KR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873345"/>
                  </a:ext>
                </a:extLst>
              </a:tr>
              <a:tr h="6755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/>
                        <a:t>서버의 중점 연구를 통해 </a:t>
                      </a:r>
                      <a:r>
                        <a:rPr lang="ko-KR" altLang="en-US" sz="1800" b="0" dirty="0" err="1"/>
                        <a:t>치팅</a:t>
                      </a:r>
                      <a:r>
                        <a:rPr lang="ko-KR" altLang="en-US" sz="1800" b="0" dirty="0"/>
                        <a:t> 예방 서버를 구현하는 경험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458845"/>
                  </a:ext>
                </a:extLst>
              </a:tr>
              <a:tr h="6755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/>
                        <a:t>클라이언트 구조를 직접 설계하고 구현하여 네트워크 게임 개발 역량 강화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010572"/>
                  </a:ext>
                </a:extLst>
              </a:tr>
              <a:tr h="6755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/>
                        <a:t>다양한 이펙트 제작과 실제 플레이에 적용하는 경험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249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717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8262E46-ED2E-8A90-EC0D-750D3CA5E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049492"/>
              </p:ext>
            </p:extLst>
          </p:nvPr>
        </p:nvGraphicFramePr>
        <p:xfrm>
          <a:off x="1041400" y="1482725"/>
          <a:ext cx="10515600" cy="46672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1181270156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4199590253"/>
                    </a:ext>
                  </a:extLst>
                </a:gridCol>
              </a:tblGrid>
              <a:tr h="13483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박신우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기본 캐릭터 기능 구현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사격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체력 컴포넌트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아이템 들기 등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차량 관련 기능 구현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운전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총기 부착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차량용 총기 기능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등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좀비 피격 시 해당 부위 분리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좀비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행동 트리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433852"/>
                  </a:ext>
                </a:extLst>
              </a:tr>
              <a:tr h="1659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배주환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리소스 수집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IOCP </a:t>
                      </a:r>
                      <a:r>
                        <a:rPr lang="ko-KR" altLang="en-US" dirty="0"/>
                        <a:t>서버 기반 </a:t>
                      </a:r>
                      <a:r>
                        <a:rPr lang="ko-KR" altLang="en-US" dirty="0" err="1"/>
                        <a:t>멀티스레드</a:t>
                      </a:r>
                      <a:r>
                        <a:rPr lang="ko-KR" altLang="en-US" dirty="0"/>
                        <a:t> 병렬 처리 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서버 내 충돌처리 로직 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실시간 동기화 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좀비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관련 서버 처리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77464"/>
                  </a:ext>
                </a:extLst>
              </a:tr>
              <a:tr h="1659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안윤진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좀비 애니메이션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차량 부분 연기 이펙트 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차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좀비 충돌 시 피 튀기는 효과 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맵 디자인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화면 </a:t>
                      </a:r>
                      <a:r>
                        <a:rPr lang="en-US" altLang="ko-KR" dirty="0"/>
                        <a:t>UI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695334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D1B820CA-E8F7-568A-13B4-3E8D3272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05</a:t>
            </a:r>
            <a:r>
              <a:rPr lang="ko-KR" altLang="en-US" sz="3200" b="1" dirty="0"/>
              <a:t> 역할 분담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7826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A36F46C-D816-EDD5-8CF5-E96F701D21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002686"/>
              </p:ext>
            </p:extLst>
          </p:nvPr>
        </p:nvGraphicFramePr>
        <p:xfrm>
          <a:off x="388617" y="945147"/>
          <a:ext cx="11357487" cy="5895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4655">
                  <a:extLst>
                    <a:ext uri="{9D8B030D-6E8A-4147-A177-3AD203B41FA5}">
                      <a16:colId xmlns:a16="http://schemas.microsoft.com/office/drawing/2014/main" val="688046876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265708735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471198270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2495761207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306864403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954200664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48417192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512490517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378821971"/>
                    </a:ext>
                  </a:extLst>
                </a:gridCol>
              </a:tblGrid>
              <a:tr h="2798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박신우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FFFF0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배주환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B05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안윤진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70C0"/>
                          </a:solidFill>
                        </a:rPr>
                        <a:t>ㅇ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공통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rgbClr val="FF0000"/>
                          </a:solidFill>
                        </a:rPr>
                        <a:t>ㅇ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834635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리소스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ighlight>
                            <a:srgbClr val="FFFF00"/>
                          </a:highlight>
                        </a:rPr>
                        <a:t>70%</a:t>
                      </a:r>
                      <a:endParaRPr lang="ko-KR" alt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1440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기본 캐릭터 기능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ighlight>
                            <a:srgbClr val="FFFF00"/>
                          </a:highlight>
                        </a:rPr>
                        <a:t>90% (</a:t>
                      </a:r>
                      <a:r>
                        <a:rPr lang="ko-KR" altLang="en-US" sz="1200" dirty="0">
                          <a:highlight>
                            <a:srgbClr val="FFFF00"/>
                          </a:highlight>
                        </a:rPr>
                        <a:t>애니메이션 부족</a:t>
                      </a:r>
                      <a:r>
                        <a:rPr lang="en-US" altLang="ko-KR" sz="1200" dirty="0"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05791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기능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 (</a:t>
                      </a:r>
                      <a:r>
                        <a:rPr lang="ko-KR" altLang="en-US" sz="1200" dirty="0"/>
                        <a:t>버그존재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1371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충돌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/>
                        <a:t>버그존재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65127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총기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퀄리티부족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60423"/>
                  </a:ext>
                </a:extLst>
              </a:tr>
              <a:tr h="3090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strike="sngStrike" dirty="0"/>
                        <a:t>차량 유탄 기관총 폭발 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strike="noStrike" dirty="0"/>
                        <a:t>시간부족으로 삭제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87253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연기 이펙트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퀄리티부족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56305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좀비 충돌 시 </a:t>
                      </a:r>
                      <a:r>
                        <a:rPr lang="ko-KR" altLang="en-US" sz="1200" dirty="0" err="1"/>
                        <a:t>피튀기는</a:t>
                      </a:r>
                      <a:r>
                        <a:rPr lang="ko-KR" altLang="en-US" sz="1200" dirty="0"/>
                        <a:t> 효과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퀄리티부족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08084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6729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1274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행동 트리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60%(</a:t>
                      </a:r>
                      <a:r>
                        <a:rPr lang="ko-KR" altLang="en-US" sz="1200" dirty="0"/>
                        <a:t>기본기만구현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20649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프레임워크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클라개발에</a:t>
                      </a:r>
                      <a:r>
                        <a:rPr lang="ko-KR" altLang="en-US" sz="1200" dirty="0"/>
                        <a:t> 따라 추가예정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3141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멀티 스레드 병렬처리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클라개발에</a:t>
                      </a:r>
                      <a:r>
                        <a:rPr lang="ko-KR" altLang="en-US" sz="1200" dirty="0"/>
                        <a:t> 따라 추가예정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000698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내 충돌처리 로직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60%(</a:t>
                      </a:r>
                      <a:r>
                        <a:rPr lang="ko-KR" altLang="en-US" sz="1200" dirty="0" err="1"/>
                        <a:t>클라개발에</a:t>
                      </a:r>
                      <a:r>
                        <a:rPr lang="ko-KR" altLang="en-US" sz="1200" dirty="0"/>
                        <a:t> 따라 추가예정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54918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관련 서버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60943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맵 디자인</a:t>
                      </a: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50%( </a:t>
                      </a:r>
                      <a:r>
                        <a:rPr lang="ko-KR" altLang="en-US" sz="1200" dirty="0"/>
                        <a:t>맵</a:t>
                      </a:r>
                      <a:r>
                        <a:rPr lang="en-US" altLang="ko-KR" sz="1200" dirty="0"/>
                        <a:t>1 90%</a:t>
                      </a:r>
                      <a:r>
                        <a:rPr lang="ko-KR" altLang="en-US" sz="1200" dirty="0"/>
                        <a:t>완료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맵</a:t>
                      </a:r>
                      <a:r>
                        <a:rPr lang="en-US" altLang="ko-KR" sz="1200" dirty="0"/>
                        <a:t>2 –</a:t>
                      </a:r>
                      <a:r>
                        <a:rPr lang="ko-KR" altLang="en-US" sz="1200" dirty="0"/>
                        <a:t>신우형 도움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3363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화면 </a:t>
                      </a:r>
                      <a:r>
                        <a:rPr lang="en-US" altLang="ko-KR" sz="1200" dirty="0"/>
                        <a:t>UI</a:t>
                      </a:r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70%(2</a:t>
                      </a:r>
                      <a:r>
                        <a:rPr lang="ko-KR" altLang="en-US" sz="1200" dirty="0" err="1"/>
                        <a:t>라운드미완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03314"/>
                  </a:ext>
                </a:extLst>
              </a:tr>
              <a:tr h="246117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사운드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게임 플레이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12513"/>
                  </a:ext>
                </a:extLst>
              </a:tr>
              <a:tr h="2461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44617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테스트 및 버그수정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264788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C55DAFBF-2D88-9EB2-2ED3-D00FD78D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06</a:t>
            </a:r>
            <a:r>
              <a:rPr lang="ko-KR" altLang="en-US" sz="3200" b="1" dirty="0"/>
              <a:t> 현재 개발 진행도</a:t>
            </a:r>
            <a:br>
              <a:rPr lang="en-US" altLang="ko-KR" sz="3200" b="1" dirty="0"/>
            </a:b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43087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DA71-7BF0-4C27-DE25-0F537500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2C86110-5861-753F-0B47-316F04365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771786"/>
              </p:ext>
            </p:extLst>
          </p:nvPr>
        </p:nvGraphicFramePr>
        <p:xfrm>
          <a:off x="2279762" y="945147"/>
          <a:ext cx="7156071" cy="5586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4655">
                  <a:extLst>
                    <a:ext uri="{9D8B030D-6E8A-4147-A177-3AD203B41FA5}">
                      <a16:colId xmlns:a16="http://schemas.microsoft.com/office/drawing/2014/main" val="688046876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954200664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48417192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512490517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378821971"/>
                    </a:ext>
                  </a:extLst>
                </a:gridCol>
              </a:tblGrid>
              <a:tr h="2798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박신우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FFFF0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배주환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B05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안윤진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70C0"/>
                          </a:solidFill>
                        </a:rPr>
                        <a:t>ㅇ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공통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rgbClr val="FF0000"/>
                          </a:solidFill>
                        </a:rPr>
                        <a:t>ㅇ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834635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리소스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1440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기본 캐릭터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05791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1371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충돌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65127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총기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60423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연기 이펙트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56305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좀비 충돌 시 </a:t>
                      </a:r>
                      <a:r>
                        <a:rPr lang="ko-KR" altLang="en-US" sz="1200" dirty="0" err="1"/>
                        <a:t>피튀기는</a:t>
                      </a:r>
                      <a:r>
                        <a:rPr lang="ko-KR" altLang="en-US" sz="1200" dirty="0"/>
                        <a:t> 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08084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6729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기능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1274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행동 트리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60%(</a:t>
                      </a:r>
                      <a:r>
                        <a:rPr lang="ko-KR" altLang="en-US" sz="1200" dirty="0"/>
                        <a:t>기본기만구현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20649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프레임워크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3141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멀티 스레드 병렬처리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000698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내 충돌처리 로직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54918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관련 서버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60943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맵 디자인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3363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화면 </a:t>
                      </a:r>
                      <a:r>
                        <a:rPr lang="en-US" altLang="ko-KR" sz="1200" dirty="0"/>
                        <a:t>UI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03314"/>
                  </a:ext>
                </a:extLst>
              </a:tr>
              <a:tr h="246117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사운드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게임 플레이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125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44617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테스트 및 버그수정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264788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6AA7E8E0-839C-3A38-B152-2F765172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06</a:t>
            </a:r>
            <a:r>
              <a:rPr lang="ko-KR" altLang="en-US" sz="3200" b="1" dirty="0"/>
              <a:t> 향후 개발 일정</a:t>
            </a:r>
            <a:br>
              <a:rPr lang="en-US" altLang="ko-KR" sz="3200" b="1" dirty="0"/>
            </a:b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166951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DC59E-3A41-CC13-7B4B-4C5C0811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07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Q&amp;A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87FDDDB-CB69-22AC-A63A-2DF87779088C}"/>
              </a:ext>
            </a:extLst>
          </p:cNvPr>
          <p:cNvSpPr txBox="1">
            <a:spLocks/>
          </p:cNvSpPr>
          <p:nvPr/>
        </p:nvSpPr>
        <p:spPr>
          <a:xfrm>
            <a:off x="5327650" y="3048000"/>
            <a:ext cx="153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b="1" dirty="0"/>
              <a:t>Q&amp;A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53929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2763-9C46-7DB1-6C9C-270C84E6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8BE4524-CD66-D862-1B98-7A25C121622C}"/>
              </a:ext>
            </a:extLst>
          </p:cNvPr>
          <p:cNvSpPr txBox="1">
            <a:spLocks/>
          </p:cNvSpPr>
          <p:nvPr/>
        </p:nvSpPr>
        <p:spPr>
          <a:xfrm>
            <a:off x="4670425" y="3048000"/>
            <a:ext cx="28511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/>
              <a:t>감사합니다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3098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791</Words>
  <Application>Microsoft Office PowerPoint</Application>
  <PresentationFormat>와이드스크린</PresentationFormat>
  <Paragraphs>168</Paragraphs>
  <Slides>14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Infection : City of Death  감염 : 죽음의 도시</vt:lpstr>
      <vt:lpstr>ㅣ 목차</vt:lpstr>
      <vt:lpstr>ㅣ01 게임 소개 – 기본 설명 </vt:lpstr>
      <vt:lpstr>PowerPoint 프레젠테이션</vt:lpstr>
      <vt:lpstr>ㅣ01 게임 소개 - 플레이 흐름 </vt:lpstr>
      <vt:lpstr>ㅣ02 구성원 역할 </vt:lpstr>
      <vt:lpstr>ㅣ03 기술 요소/중점연구 분야 </vt:lpstr>
      <vt:lpstr>ㅣ03 기술 요소/중점연구 분야 </vt:lpstr>
      <vt:lpstr>ㅣ04 연구 목적 </vt:lpstr>
      <vt:lpstr>ㅣ05 역할 분담 </vt:lpstr>
      <vt:lpstr>ㅣ06 현재 개발 진행도 </vt:lpstr>
      <vt:lpstr>ㅣ06 향후 개발 일정 </vt:lpstr>
      <vt:lpstr>ㅣ07 Q&amp;A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배주환(2021184015)</dc:creator>
  <cp:lastModifiedBy>배주환(2021184015)</cp:lastModifiedBy>
  <cp:revision>25</cp:revision>
  <dcterms:created xsi:type="dcterms:W3CDTF">2025-12-20T14:57:21Z</dcterms:created>
  <dcterms:modified xsi:type="dcterms:W3CDTF">2026-05-09T13:42:51Z</dcterms:modified>
</cp:coreProperties>
</file>