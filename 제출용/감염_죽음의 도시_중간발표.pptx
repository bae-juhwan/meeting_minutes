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73" r:id="rId7"/>
    <p:sldId id="263" r:id="rId8"/>
    <p:sldId id="265" r:id="rId9"/>
    <p:sldId id="261" r:id="rId10"/>
    <p:sldId id="262" r:id="rId11"/>
    <p:sldId id="266" r:id="rId12"/>
    <p:sldId id="274" r:id="rId13"/>
    <p:sldId id="277" r:id="rId14"/>
    <p:sldId id="275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3645E539-6FD5-4AFF-B677-869B5A677D1E}" type="datetime1">
              <a:rPr lang="ko-KR" altLang="en-US"/>
              <a:pPr lvl="0">
                <a:defRPr/>
              </a:pPr>
              <a:t>2026-05-09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EB3AD288-C5DB-467C-8F75-E9312FADA2B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B3AD288-C5DB-467C-8F75-E9312FADA2B4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B3AD288-C5DB-467C-8F75-E9312FADA2B4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B3AD288-C5DB-467C-8F75-E9312FADA2B4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D52C9E-B0D3-6D6C-DCB3-9F96451ECE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457AE71-6DC4-6233-8CDA-C64206A945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FED914-EF26-2256-FF62-703D9CDF7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1279A-2D0F-4B89-AFB8-7F24464C1E08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BEE5C2-0003-4CC4-5DCA-416BCB035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4C3195-01EB-B5E0-606D-9776277D6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B06C6-D588-4E80-A2CB-3AC70DB335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1307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D118D3-7A37-7D1E-7663-240170EFA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EB4506-F4C9-B2F0-E7C2-936372664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19CC10-54E4-AB1C-1FA5-F93810F44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1279A-2D0F-4B89-AFB8-7F24464C1E08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5F0543-A85E-0E4C-2DFE-116E1D57C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3CBEA5-0EE4-506F-91E4-5BAC06A64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B06C6-D588-4E80-A2CB-3AC70DB335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0661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64A624-EDD8-FAB3-C08D-911F1C21B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064114-2BFA-DA05-9A5D-E7B6DFC21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E80575-88A4-E959-616E-8599450D3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1279A-2D0F-4B89-AFB8-7F24464C1E08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5B3359-8547-3A32-062C-4C928F95A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A4711F-D581-4E1F-6BA2-1A2AC9FFD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B06C6-D588-4E80-A2CB-3AC70DB335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362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0AA13E-5BF6-47BA-EEFD-65C7AA312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2FE5CB-3B1B-83CA-AA46-CA9FB9B694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50CED2E-8E64-09C1-E041-A85491B0F8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CCFC55F-6B01-C5FF-D575-DE24AA7FA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1279A-2D0F-4B89-AFB8-7F24464C1E08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A52FE91-5F8F-1F29-5F4F-634E71E78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846E984-2373-B7B4-83B1-C543AE498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B06C6-D588-4E80-A2CB-3AC70DB335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901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74BB95-15A6-4980-4E05-D0E2B3D7A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9F9003-FED9-F21A-D8D4-1699D59A97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E3D8C63-F147-54B4-1C14-198DAF4255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8A850D5-587E-E0CE-6F87-2A59BA855C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0F82BC4-E8A8-2A85-1DAB-F515A1C909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80C6C53-F3D0-8158-0EA8-D84B36A93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1279A-2D0F-4B89-AFB8-7F24464C1E08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79972AA-E09F-223D-C41A-4BDC0237F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9742504-1423-F788-9552-D65FF8FFF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B06C6-D588-4E80-A2CB-3AC70DB335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407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F66D99-F850-EE99-4A0F-BBAA9CD4D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EBB02A6-C901-F334-0D8D-7DBA7AFAB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1279A-2D0F-4B89-AFB8-7F24464C1E08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672F973-47D5-04F8-5718-87FB017EA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01928D5-9A6C-F840-B7F6-1587F3739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B06C6-D588-4E80-A2CB-3AC70DB335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5721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29633B9-1343-FD65-81D8-C49074E61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1279A-2D0F-4B89-AFB8-7F24464C1E08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2C75721-FDD2-B0C6-49C3-429841FE7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751132-59F7-1ECA-034F-1FCCD4F6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B06C6-D588-4E80-A2CB-3AC70DB335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262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1919C3-839F-8A7F-2E42-1C7138DE0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844844-4A86-1905-4B17-CC59E48EC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15132A5-32BF-6E72-75CB-D9FC0EB985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C15555E-9974-5AE4-1BBA-6C48C4EDB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1279A-2D0F-4B89-AFB8-7F24464C1E08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36315F6-CBE8-BBF3-03DA-F99CE5B1A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966C6FB-77E4-49FC-DEEC-F54156734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B06C6-D588-4E80-A2CB-3AC70DB335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3799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38C9F7-077C-5DFB-E904-330429CB0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5665232-6E8C-77DF-15A4-D11FE666A0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16190FB-8D6B-5229-6DC4-BE9F7F6589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CE87E98-2182-39D0-BF82-32AF470E5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1279A-2D0F-4B89-AFB8-7F24464C1E08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578AE6-23B9-2F48-5EF2-9D8C85331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5D46E63-2460-1377-733F-88A077490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B06C6-D588-4E80-A2CB-3AC70DB335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538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DD7C31-AFD7-4A5F-8D90-BFA666C8B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54B6D4E-298F-64A2-9C51-265C6BE3F7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6FADAE-FB20-E670-9AEC-9CF4D6033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1279A-2D0F-4B89-AFB8-7F24464C1E08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FC19B9-3AA4-A5B9-82C2-4864BD7C5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187B46-62B0-5103-2CC8-3D22F3C65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B06C6-D588-4E80-A2CB-3AC70DB335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985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8228784-F8A4-F0D1-11C3-AC920A0BAB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617362A-171F-5147-3C6F-A11EA2E796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8E57E5-2EC1-862E-51AC-F99EA7883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1279A-2D0F-4B89-AFB8-7F24464C1E08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0665DB-0B7D-4BC9-591A-B0F4414A2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847B17-F075-1F98-56AC-10C031F28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B06C6-D588-4E80-A2CB-3AC70DB335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6996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C3EF577-FE75-0327-2E85-3B0FA42BC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749C4E9-D128-20A5-658E-807223059F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7EADB2-AB65-DBD0-1E2F-08ACD3704A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A1279A-2D0F-4B89-AFB8-7F24464C1E08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3D2002-1229-E194-465C-005EE3F9C2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BEE562-3823-9922-AB6B-D91F046B3E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3B06C6-D588-4E80-A2CB-3AC70DB335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9287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Rectangle 307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좀비 게임 : Mad Zombie PC 버전 다운로드 - LD플레이어">
            <a:extLst>
              <a:ext uri="{FF2B5EF4-FFF2-40B4-BE49-F238E27FC236}">
                <a16:creationId xmlns:a16="http://schemas.microsoft.com/office/drawing/2014/main" id="{F550C6BC-1087-7C28-6548-3985AE0724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00"/>
          <a:stretch>
            <a:fillRect/>
          </a:stretch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3E88D9E-0B31-6879-5E81-7EE5FA1AC3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127760" y="2268186"/>
            <a:ext cx="13700760" cy="1828801"/>
          </a:xfrm>
          <a:solidFill>
            <a:schemeClr val="bg1">
              <a:lumMod val="65000"/>
              <a:lumOff val="35000"/>
              <a:alpha val="53000"/>
            </a:schemeClr>
          </a:solidFill>
        </p:spPr>
        <p:txBody>
          <a:bodyPr>
            <a:normAutofit/>
          </a:bodyPr>
          <a:lstStyle/>
          <a:p>
            <a:r>
              <a:rPr lang="en-US" altLang="ko-KR" b="1" dirty="0"/>
              <a:t>Infection : City of Death </a:t>
            </a:r>
            <a:br>
              <a:rPr lang="en-US" altLang="ko-KR" b="1" dirty="0"/>
            </a:br>
            <a:r>
              <a:rPr lang="ko-KR" altLang="en-US" sz="4000" b="1" i="1" dirty="0"/>
              <a:t>감염 </a:t>
            </a:r>
            <a:r>
              <a:rPr lang="en-US" altLang="ko-KR" sz="4000" b="1" i="1" dirty="0"/>
              <a:t>: </a:t>
            </a:r>
            <a:r>
              <a:rPr lang="ko-KR" altLang="en-US" sz="4000" b="1" i="1" dirty="0"/>
              <a:t>죽음의 도시</a:t>
            </a:r>
            <a:endParaRPr lang="ko-KR" altLang="en-US" i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8EEF565-BD09-7E94-31C6-4E08EEB81D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38931" y="5382563"/>
            <a:ext cx="4948052" cy="1098395"/>
          </a:xfrm>
        </p:spPr>
        <p:txBody>
          <a:bodyPr>
            <a:normAutofit/>
          </a:bodyPr>
          <a:lstStyle/>
          <a:p>
            <a:r>
              <a:rPr lang="en-US" altLang="ko-KR" sz="1700" b="1" dirty="0">
                <a:solidFill>
                  <a:srgbClr val="FFFFFF"/>
                </a:solidFill>
              </a:rPr>
              <a:t>2021182014 </a:t>
            </a:r>
            <a:r>
              <a:rPr lang="ko-KR" altLang="en-US" sz="1700" b="1" dirty="0" err="1">
                <a:solidFill>
                  <a:srgbClr val="FFFFFF"/>
                </a:solidFill>
              </a:rPr>
              <a:t>박신우</a:t>
            </a:r>
            <a:endParaRPr lang="en-US" altLang="ko-KR" sz="1700" b="1" dirty="0">
              <a:solidFill>
                <a:srgbClr val="FFFFFF"/>
              </a:solidFill>
            </a:endParaRPr>
          </a:p>
          <a:p>
            <a:r>
              <a:rPr lang="en-US" altLang="ko-KR" sz="1700" b="1" dirty="0">
                <a:solidFill>
                  <a:srgbClr val="FFFFFF"/>
                </a:solidFill>
              </a:rPr>
              <a:t>2023182021 </a:t>
            </a:r>
            <a:r>
              <a:rPr lang="ko-KR" altLang="en-US" sz="1700" b="1" dirty="0">
                <a:solidFill>
                  <a:srgbClr val="FFFFFF"/>
                </a:solidFill>
              </a:rPr>
              <a:t>안윤진</a:t>
            </a:r>
            <a:endParaRPr lang="en-US" altLang="ko-KR" sz="1700" b="1" dirty="0">
              <a:solidFill>
                <a:srgbClr val="FFFFFF"/>
              </a:solidFill>
            </a:endParaRPr>
          </a:p>
          <a:p>
            <a:r>
              <a:rPr lang="en-US" altLang="ko-KR" sz="1700" b="1" dirty="0">
                <a:solidFill>
                  <a:srgbClr val="FFFFFF"/>
                </a:solidFill>
              </a:rPr>
              <a:t>2021184015 </a:t>
            </a:r>
            <a:r>
              <a:rPr lang="ko-KR" altLang="en-US" sz="1700" b="1" dirty="0" err="1">
                <a:solidFill>
                  <a:srgbClr val="FFFFFF"/>
                </a:solidFill>
              </a:rPr>
              <a:t>배주환</a:t>
            </a:r>
            <a:endParaRPr lang="ko-KR" altLang="en-US" sz="1700" b="1" dirty="0">
              <a:solidFill>
                <a:srgbClr val="FFFFFF"/>
              </a:solidFill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19ACF64-6486-6A44-DFF1-23B03E0FE921}"/>
              </a:ext>
            </a:extLst>
          </p:cNvPr>
          <p:cNvSpPr txBox="1">
            <a:spLocks/>
          </p:cNvSpPr>
          <p:nvPr/>
        </p:nvSpPr>
        <p:spPr>
          <a:xfrm>
            <a:off x="1524000" y="513492"/>
            <a:ext cx="9144000" cy="7275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400" b="1" i="1" u="sng" dirty="0"/>
              <a:t>중간발표</a:t>
            </a:r>
          </a:p>
        </p:txBody>
      </p:sp>
    </p:spTree>
    <p:extLst>
      <p:ext uri="{BB962C8B-B14F-4D97-AF65-F5344CB8AC3E}">
        <p14:creationId xmlns:p14="http://schemas.microsoft.com/office/powerpoint/2010/main" val="31216139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좀비 게임 : Mad Zombie PC 버전 다운로드 - LD플레이어">
            <a:extLst>
              <a:ext uri="{FF2B5EF4-FFF2-40B4-BE49-F238E27FC236}">
                <a16:creationId xmlns:a16="http://schemas.microsoft.com/office/drawing/2014/main" id="{3D8754F3-956D-261A-E7F6-190EC1024D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00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3176AAC-364E-04CD-50E3-F3BD125A2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3600" b="1" dirty="0" err="1">
                <a:solidFill>
                  <a:srgbClr val="FFFFFF"/>
                </a:solidFill>
              </a:rPr>
              <a:t>ㅣ</a:t>
            </a:r>
            <a:r>
              <a:rPr lang="ko-KR" altLang="en-US" sz="3600" b="1" dirty="0">
                <a:solidFill>
                  <a:srgbClr val="FFFFFF"/>
                </a:solidFill>
              </a:rPr>
              <a:t> 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B25246-5FEF-36E8-E6B0-F88B153CF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0" y="1889125"/>
            <a:ext cx="6718300" cy="4351338"/>
          </a:xfrm>
        </p:spPr>
        <p:txBody>
          <a:bodyPr anchor="ctr">
            <a:normAutofit fontScale="92500"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ko-KR" altLang="en-US" sz="2400" b="1" dirty="0">
                <a:solidFill>
                  <a:srgbClr val="FFFFFF"/>
                </a:solidFill>
              </a:rPr>
              <a:t>게임 소개</a:t>
            </a:r>
            <a:endParaRPr lang="en-US" altLang="ko-KR" sz="2400" b="1" dirty="0">
              <a:solidFill>
                <a:srgbClr val="FFFFFF"/>
              </a:solidFill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ko-KR" altLang="en-US" sz="2400" b="1" dirty="0">
                <a:solidFill>
                  <a:srgbClr val="FFFFFF"/>
                </a:solidFill>
              </a:rPr>
              <a:t>구성원 역할</a:t>
            </a:r>
            <a:endParaRPr lang="en-US" altLang="ko-KR" sz="2400" b="1" dirty="0">
              <a:solidFill>
                <a:srgbClr val="FFFFFF"/>
              </a:solidFill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ko-KR" altLang="en-US" sz="2400" b="1" dirty="0">
                <a:solidFill>
                  <a:srgbClr val="FFFFFF"/>
                </a:solidFill>
              </a:rPr>
              <a:t>기술 요소</a:t>
            </a:r>
            <a:r>
              <a:rPr lang="en-US" altLang="ko-KR" sz="2400" b="1" dirty="0">
                <a:solidFill>
                  <a:srgbClr val="FFFFFF"/>
                </a:solidFill>
              </a:rPr>
              <a:t>/</a:t>
            </a:r>
            <a:r>
              <a:rPr lang="ko-KR" altLang="en-US" sz="2400" b="1" dirty="0">
                <a:solidFill>
                  <a:srgbClr val="FFFFFF"/>
                </a:solidFill>
              </a:rPr>
              <a:t>중점 연구분야</a:t>
            </a:r>
            <a:endParaRPr lang="en-US" altLang="ko-KR" sz="2400" b="1" dirty="0">
              <a:solidFill>
                <a:srgbClr val="FFFFFF"/>
              </a:solidFill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ko-KR" altLang="en-US" sz="2400" b="1" dirty="0">
                <a:solidFill>
                  <a:srgbClr val="FFFFFF"/>
                </a:solidFill>
              </a:rPr>
              <a:t>개발 내용</a:t>
            </a:r>
            <a:endParaRPr lang="en-US" altLang="ko-KR" sz="2400" b="1" dirty="0">
              <a:solidFill>
                <a:srgbClr val="FFFFFF"/>
              </a:solidFill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ko-KR" altLang="en-US" sz="2400" b="1" dirty="0">
                <a:solidFill>
                  <a:srgbClr val="FFFFFF"/>
                </a:solidFill>
              </a:rPr>
              <a:t>문제점 및 보안책</a:t>
            </a:r>
            <a:endParaRPr lang="en-US" altLang="ko-KR" sz="2400" b="1" dirty="0">
              <a:solidFill>
                <a:srgbClr val="FFFFFF"/>
              </a:solidFill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ko-KR" altLang="en-US" sz="2400" b="1" dirty="0">
                <a:solidFill>
                  <a:srgbClr val="FFFFFF"/>
                </a:solidFill>
              </a:rPr>
              <a:t>향후 개발 일정</a:t>
            </a:r>
            <a:endParaRPr lang="en-US" altLang="ko-KR" sz="2400" b="1" dirty="0">
              <a:solidFill>
                <a:srgbClr val="FFFFFF"/>
              </a:solidFill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ko-KR" altLang="en-US" sz="2400" b="1" dirty="0">
                <a:solidFill>
                  <a:srgbClr val="FFFFFF"/>
                </a:solidFill>
              </a:rPr>
              <a:t>데모 시연</a:t>
            </a:r>
            <a:endParaRPr lang="en-US" altLang="ko-KR" sz="2000" b="1" dirty="0">
              <a:solidFill>
                <a:srgbClr val="FFFFFF"/>
              </a:solidFill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F99582A2-1E75-CEC4-6351-F2BF967FCD1E}"/>
              </a:ext>
            </a:extLst>
          </p:cNvPr>
          <p:cNvSpPr txBox="1">
            <a:spLocks/>
          </p:cNvSpPr>
          <p:nvPr/>
        </p:nvSpPr>
        <p:spPr>
          <a:xfrm>
            <a:off x="6921500" y="1889125"/>
            <a:ext cx="5575300" cy="43513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5070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2" name="Rectangle 206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2052" name="Picture 4" descr="레포데2, 무료배포에 스팀 사이트 다운…어떤 게임이기에? - 머니투데이"/>
          <p:cNvPicPr>
            <a:picLocks noChangeAspect="1" noChangeArrowheads="1"/>
          </p:cNvPicPr>
          <p:nvPr/>
        </p:nvPicPr>
        <p:blipFill rotWithShape="1">
          <a:blip r:embed="rId2">
            <a:alphaModFix amt="50000"/>
          </a:blip>
          <a:srcRect t="4360" b="5640"/>
          <a:stretch>
            <a:fillRect/>
          </a:stretch>
        </p:blipFill>
        <p:spPr>
          <a:xfrm>
            <a:off x="20" y="9524"/>
            <a:ext cx="12191980" cy="6857999"/>
          </a:xfrm>
          <a:prstGeom prst="rect">
            <a:avLst/>
          </a:prstGeom>
          <a:noFill/>
        </p:spPr>
      </p:pic>
      <p:sp>
        <p:nvSpPr>
          <p:cNvPr id="5" name="타원 4"/>
          <p:cNvSpPr/>
          <p:nvPr/>
        </p:nvSpPr>
        <p:spPr>
          <a:xfrm>
            <a:off x="-2552701" y="-1381922"/>
            <a:ext cx="12191979" cy="10012680"/>
          </a:xfrm>
          <a:prstGeom prst="ellipse">
            <a:avLst/>
          </a:prstGeom>
          <a:solidFill>
            <a:schemeClr val="dk1">
              <a:alpha val="41000"/>
            </a:schemeClr>
          </a:solidFill>
          <a:ln>
            <a:noFill/>
          </a:ln>
          <a:effectLst>
            <a:softEdge rad="6223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09381" y="2121498"/>
            <a:ext cx="5759059" cy="3742762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sz="2400" b="1"/>
              <a:t>이름</a:t>
            </a:r>
            <a:r>
              <a:rPr lang="ko-KR" altLang="en-US" sz="2400"/>
              <a:t> </a:t>
            </a:r>
            <a:r>
              <a:rPr lang="en-US" altLang="ko-KR" sz="2400"/>
              <a:t>:	</a:t>
            </a:r>
            <a:r>
              <a:rPr lang="en-US" altLang="ko-KR" sz="2400" b="1" i="1"/>
              <a:t>Infection : City of Death </a:t>
            </a:r>
          </a:p>
          <a:p>
            <a:pPr marL="0" indent="0">
              <a:buNone/>
              <a:defRPr/>
            </a:pPr>
            <a:r>
              <a:rPr lang="en-US" altLang="ko-KR" sz="2400" b="1" i="1"/>
              <a:t>		(</a:t>
            </a:r>
            <a:r>
              <a:rPr lang="ko-KR" altLang="en-US" sz="2400" b="1" i="1"/>
              <a:t>감염 </a:t>
            </a:r>
            <a:r>
              <a:rPr lang="en-US" altLang="ko-KR" sz="2400" b="1" i="1"/>
              <a:t>: </a:t>
            </a:r>
            <a:r>
              <a:rPr lang="ko-KR" altLang="en-US" sz="2400" b="1" i="1"/>
              <a:t>죽음의 도시</a:t>
            </a:r>
            <a:r>
              <a:rPr lang="en-US" altLang="ko-KR" sz="2400" b="1" i="1"/>
              <a:t>)</a:t>
            </a:r>
          </a:p>
          <a:p>
            <a:pPr lvl="0">
              <a:defRPr/>
            </a:pPr>
            <a:endParaRPr lang="en-US" altLang="ko-KR" sz="2400" b="1"/>
          </a:p>
          <a:p>
            <a:pPr lvl="0">
              <a:defRPr/>
            </a:pPr>
            <a:r>
              <a:rPr lang="ko-KR" altLang="en-US" sz="2400" b="1"/>
              <a:t>인원 </a:t>
            </a:r>
            <a:r>
              <a:rPr lang="en-US" altLang="ko-KR" sz="2400" b="1"/>
              <a:t>:  	</a:t>
            </a:r>
            <a:r>
              <a:rPr lang="en-US" altLang="ko-KR" sz="2400" b="1" i="1" u="sng"/>
              <a:t>3</a:t>
            </a:r>
            <a:r>
              <a:rPr lang="ko-KR" altLang="en-US" sz="2400" b="1" i="1" u="sng"/>
              <a:t>인  고정 </a:t>
            </a:r>
            <a:r>
              <a:rPr lang="ko-KR" altLang="en-US" sz="2400" b="1" i="1"/>
              <a:t>플레이</a:t>
            </a:r>
          </a:p>
          <a:p>
            <a:pPr lvl="0">
              <a:defRPr/>
            </a:pPr>
            <a:endParaRPr lang="en-US" altLang="ko-KR" sz="2400" b="1"/>
          </a:p>
          <a:p>
            <a:pPr lvl="0">
              <a:defRPr/>
            </a:pPr>
            <a:r>
              <a:rPr lang="ko-KR" altLang="en-US" sz="2400" b="1"/>
              <a:t>장르 </a:t>
            </a:r>
            <a:r>
              <a:rPr lang="en-US" altLang="ko-KR" sz="2400" b="1"/>
              <a:t>: 	#</a:t>
            </a:r>
            <a:r>
              <a:rPr lang="en-US" altLang="ko-KR" sz="2600" b="1" i="1"/>
              <a:t>TPS(1,3</a:t>
            </a:r>
            <a:r>
              <a:rPr lang="ko-KR" altLang="en-US" sz="2600" b="1" i="1"/>
              <a:t>인칭 슈팅 게임</a:t>
            </a:r>
            <a:r>
              <a:rPr lang="en-US" altLang="ko-KR" sz="2600" b="1" i="1"/>
              <a:t>) </a:t>
            </a:r>
          </a:p>
          <a:p>
            <a:pPr marL="0" indent="0">
              <a:buNone/>
              <a:defRPr/>
            </a:pPr>
            <a:r>
              <a:rPr lang="en-US" altLang="ko-KR" sz="2600" b="1" i="1"/>
              <a:t>		#</a:t>
            </a:r>
            <a:r>
              <a:rPr lang="ko-KR" altLang="en-US" sz="2600" b="1" i="1"/>
              <a:t>디펜스 </a:t>
            </a:r>
            <a:r>
              <a:rPr lang="en-US" altLang="ko-KR" sz="2600" b="1" i="1"/>
              <a:t> #</a:t>
            </a:r>
            <a:r>
              <a:rPr lang="ko-KR" altLang="en-US" sz="2600" b="1" i="1"/>
              <a:t>좀비 </a:t>
            </a:r>
            <a:r>
              <a:rPr lang="en-US" altLang="ko-KR" sz="2600" b="1" i="1"/>
              <a:t> #</a:t>
            </a:r>
            <a:r>
              <a:rPr lang="ko-KR" altLang="en-US" sz="2600" b="1" i="1"/>
              <a:t>협동</a:t>
            </a:r>
          </a:p>
          <a:p>
            <a:pPr lvl="0">
              <a:defRPr/>
            </a:pPr>
            <a:endParaRPr lang="ko-KR" altLang="en-US" sz="2000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sz="3200" b="1"/>
              <a:t>ㅣ</a:t>
            </a:r>
            <a:r>
              <a:rPr lang="en-US" altLang="ko-KR" sz="3200" b="1"/>
              <a:t>01</a:t>
            </a:r>
            <a:r>
              <a:rPr lang="ko-KR" altLang="en-US" sz="3200" b="1"/>
              <a:t> 게임 소개 </a:t>
            </a:r>
            <a:r>
              <a:rPr lang="en-US" altLang="ko-KR" sz="2400" b="1"/>
              <a:t>– </a:t>
            </a:r>
            <a:r>
              <a:rPr lang="ko-KR" altLang="en-US" sz="2400" b="1"/>
              <a:t>기본 설명</a:t>
            </a:r>
            <a:br>
              <a:rPr lang="en-US" altLang="ko-KR" sz="2800" b="1"/>
            </a:br>
            <a:endParaRPr lang="ko-KR" altLang="en-US" sz="3600" b="1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9AF970-29F6-1E64-BAD8-633123285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2" name="Rectangle 2061">
            <a:extLst>
              <a:ext uri="{FF2B5EF4-FFF2-40B4-BE49-F238E27FC236}">
                <a16:creationId xmlns:a16="http://schemas.microsoft.com/office/drawing/2014/main" id="{F251A801-BB64-8408-7552-04123F976E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2" name="Picture 4" descr="레포데2, 무료배포에 스팀 사이트 다운…어떤 게임이기에? - 머니투데이">
            <a:extLst>
              <a:ext uri="{FF2B5EF4-FFF2-40B4-BE49-F238E27FC236}">
                <a16:creationId xmlns:a16="http://schemas.microsoft.com/office/drawing/2014/main" id="{47498F8B-E21F-5B32-09B0-D6F162D84D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64" b="5636"/>
          <a:stretch>
            <a:fillRect/>
          </a:stretch>
        </p:blipFill>
        <p:spPr bwMode="auto">
          <a:xfrm>
            <a:off x="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2DC0F5C3-B6F7-0597-BFA6-B87A6D9CD32C}"/>
              </a:ext>
            </a:extLst>
          </p:cNvPr>
          <p:cNvSpPr/>
          <p:nvPr/>
        </p:nvSpPr>
        <p:spPr>
          <a:xfrm>
            <a:off x="250619" y="563880"/>
            <a:ext cx="11690742" cy="6294119"/>
          </a:xfrm>
          <a:prstGeom prst="ellipse">
            <a:avLst/>
          </a:prstGeom>
          <a:solidFill>
            <a:schemeClr val="dk1">
              <a:alpha val="60000"/>
            </a:schemeClr>
          </a:solidFill>
          <a:ln>
            <a:noFill/>
          </a:ln>
          <a:effectLst>
            <a:softEdge rad="6223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01A15DA-FB3C-E77C-B31A-5602B063E249}"/>
              </a:ext>
            </a:extLst>
          </p:cNvPr>
          <p:cNvSpPr txBox="1">
            <a:spLocks/>
          </p:cNvSpPr>
          <p:nvPr/>
        </p:nvSpPr>
        <p:spPr>
          <a:xfrm>
            <a:off x="1584042" y="2410777"/>
            <a:ext cx="8337198" cy="47417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800" i="1" dirty="0"/>
              <a:t>좀비 바이러스가 창궐하는 </a:t>
            </a:r>
            <a:r>
              <a:rPr lang="ko-KR" altLang="en-US" sz="1800" i="1" dirty="0" err="1"/>
              <a:t>아포칼립스</a:t>
            </a:r>
            <a:r>
              <a:rPr lang="ko-KR" altLang="en-US" sz="1800" i="1" dirty="0"/>
              <a:t> 세계관 속</a:t>
            </a:r>
            <a:r>
              <a:rPr lang="en-US" altLang="ko-KR" sz="1800" i="1" dirty="0"/>
              <a:t>.. </a:t>
            </a:r>
          </a:p>
          <a:p>
            <a:pPr marL="0" indent="0" algn="ctr">
              <a:buNone/>
            </a:pPr>
            <a:r>
              <a:rPr lang="ko-KR" altLang="en-US" sz="1800" i="1" dirty="0"/>
              <a:t>이미 감염된 도시를 탈출하기 위해 </a:t>
            </a:r>
            <a:r>
              <a:rPr lang="en-US" altLang="ko-KR" sz="1800" i="1" dirty="0"/>
              <a:t>3</a:t>
            </a:r>
            <a:r>
              <a:rPr lang="ko-KR" altLang="en-US" sz="1800" i="1" dirty="0"/>
              <a:t>명이 모였다</a:t>
            </a:r>
            <a:r>
              <a:rPr lang="en-US" altLang="ko-KR" sz="1800" i="1" dirty="0"/>
              <a:t>. </a:t>
            </a:r>
          </a:p>
          <a:p>
            <a:pPr marL="0" indent="0" algn="ctr">
              <a:buNone/>
            </a:pPr>
            <a:r>
              <a:rPr lang="ko-KR" altLang="en-US" sz="1800" i="1" dirty="0"/>
              <a:t>탈출할 방법은 오직 </a:t>
            </a:r>
            <a:r>
              <a:rPr lang="ko-KR" altLang="en-US" sz="1800" b="1" i="1" dirty="0"/>
              <a:t>다리를 건너 도시를 탈출하는 방법 뿐</a:t>
            </a:r>
            <a:r>
              <a:rPr lang="en-US" altLang="ko-KR" sz="1800" b="1" i="1" dirty="0"/>
              <a:t>..! </a:t>
            </a:r>
          </a:p>
          <a:p>
            <a:pPr marL="0" indent="0" algn="ctr">
              <a:buNone/>
            </a:pPr>
            <a:r>
              <a:rPr lang="ko-KR" altLang="en-US" sz="1800" b="1" i="1" dirty="0"/>
              <a:t>한 대 남은 트럭</a:t>
            </a:r>
            <a:r>
              <a:rPr lang="ko-KR" altLang="en-US" sz="1800" i="1" dirty="0"/>
              <a:t>에 필요한 것들을 챙겨 빠른 시간안에 탈출해야 한다</a:t>
            </a:r>
            <a:r>
              <a:rPr lang="en-US" altLang="ko-KR" sz="1800" i="1" dirty="0"/>
              <a:t>. </a:t>
            </a:r>
          </a:p>
          <a:p>
            <a:pPr marL="0" indent="0" algn="ctr">
              <a:buNone/>
            </a:pPr>
            <a:endParaRPr lang="en-US" altLang="ko-KR" sz="1800" i="1" dirty="0"/>
          </a:p>
          <a:p>
            <a:pPr marL="0" indent="0" algn="ctr">
              <a:buNone/>
            </a:pPr>
            <a:r>
              <a:rPr lang="ko-KR" altLang="en-US" sz="2000" b="1" i="1" u="sng" dirty="0"/>
              <a:t>쫓아오는 좀비와 전투하며 목표 지점까지 도달하라</a:t>
            </a:r>
            <a:r>
              <a:rPr lang="en-US" altLang="ko-KR" sz="2000" b="1" i="1" u="sng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729778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내용 개체 틀 3"/>
          <p:cNvGraphicFramePr>
            <a:graphicFrameLocks noGrp="1"/>
          </p:cNvGraphicFramePr>
          <p:nvPr>
            <p:ph idx="1"/>
          </p:nvPr>
        </p:nvGraphicFramePr>
        <p:xfrm>
          <a:off x="1396480" y="1309550"/>
          <a:ext cx="9620565" cy="54783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251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7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47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2902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 sz="20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800" b="1"/>
                        <a:t>1</a:t>
                      </a:r>
                      <a:r>
                        <a:rPr lang="ko-KR" altLang="en-US" sz="1800" b="1"/>
                        <a:t>스테이지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800" b="1"/>
                        <a:t>2</a:t>
                      </a:r>
                      <a:r>
                        <a:rPr lang="ko-KR" altLang="en-US" sz="1800" b="1"/>
                        <a:t>스테이지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322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800" b="1"/>
                        <a:t>핵심 콘텐츠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600"/>
                        <a:t>파밍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600"/>
                        <a:t>운전 </a:t>
                      </a:r>
                      <a:r>
                        <a:rPr lang="en-US" altLang="ko-KR" sz="1600"/>
                        <a:t>&amp; </a:t>
                      </a:r>
                      <a:r>
                        <a:rPr lang="ko-KR" altLang="en-US" sz="1600"/>
                        <a:t>전투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6429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800" b="1"/>
                        <a:t>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600"/>
                        <a:t>여러 주택이 모여 있는 마을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600"/>
                        <a:t>황폐하고 좀비가 깔린 도시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55317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800" b="1"/>
                        <a:t>세부 </a:t>
                      </a:r>
                      <a:r>
                        <a:rPr lang="en-US" altLang="ko-KR" sz="1800" b="1"/>
                        <a:t>/ </a:t>
                      </a:r>
                      <a:r>
                        <a:rPr lang="ko-KR" altLang="en-US" sz="1800" b="1"/>
                        <a:t>기타 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600"/>
                        <a:t> </a:t>
                      </a:r>
                      <a:r>
                        <a:rPr lang="en-US" altLang="ko-KR" sz="1600"/>
                        <a:t>- </a:t>
                      </a:r>
                      <a:r>
                        <a:rPr lang="ko-KR" altLang="en-US" sz="1600"/>
                        <a:t>시간 제한</a:t>
                      </a:r>
                      <a:r>
                        <a:rPr lang="en-US" altLang="ko-KR" sz="1600"/>
                        <a:t>O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600"/>
                        <a:t> - </a:t>
                      </a:r>
                      <a:r>
                        <a:rPr lang="ko-KR" altLang="en-US" sz="1600"/>
                        <a:t>탈출할 차 강화</a:t>
                      </a:r>
                      <a:r>
                        <a:rPr lang="en-US" altLang="ko-KR" sz="1600"/>
                        <a:t>(</a:t>
                      </a:r>
                      <a:r>
                        <a:rPr lang="ko-KR" altLang="en-US" sz="1600"/>
                        <a:t>기관총 장착</a:t>
                      </a:r>
                      <a:r>
                        <a:rPr lang="en-US" altLang="ko-KR" sz="1600"/>
                        <a:t>, </a:t>
                      </a:r>
                    </a:p>
                    <a:p>
                      <a:pPr algn="ctr" latinLnBrk="1">
                        <a:defRPr/>
                      </a:pPr>
                      <a:r>
                        <a:rPr lang="ko-KR" altLang="en-US" sz="1600" strike="sngStrike"/>
                        <a:t>좀비를 칠 수 있는 무기 장착</a:t>
                      </a:r>
                      <a:r>
                        <a:rPr lang="en-US" altLang="ko-KR" sz="1600" strike="sngStrike"/>
                        <a:t>)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600"/>
                        <a:t> - </a:t>
                      </a:r>
                      <a:r>
                        <a:rPr lang="ko-KR" altLang="en-US" sz="1600"/>
                        <a:t>무기 파밍</a:t>
                      </a:r>
                      <a:endParaRPr lang="en-US" altLang="ko-KR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600"/>
                        <a:t> - </a:t>
                      </a:r>
                      <a:r>
                        <a:rPr lang="ko-KR" altLang="en-US" sz="1600"/>
                        <a:t>차의 체력을 지키며 목적지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600"/>
                        <a:t>(</a:t>
                      </a:r>
                      <a:r>
                        <a:rPr lang="ko-KR" altLang="en-US" sz="1600"/>
                        <a:t>다리</a:t>
                      </a:r>
                      <a:r>
                        <a:rPr lang="en-US" altLang="ko-KR" sz="1600"/>
                        <a:t>)</a:t>
                      </a:r>
                      <a:r>
                        <a:rPr lang="ko-KR" altLang="en-US" sz="1600"/>
                        <a:t>까지 도착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600"/>
                        <a:t> - </a:t>
                      </a:r>
                      <a:r>
                        <a:rPr lang="ko-KR" altLang="en-US" sz="1600"/>
                        <a:t>중간마다 장애물</a:t>
                      </a:r>
                      <a:r>
                        <a:rPr lang="en-US" altLang="ko-KR" sz="1600"/>
                        <a:t>O</a:t>
                      </a:r>
                      <a:endParaRPr lang="ko-KR" altLang="en-US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13392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800" b="1"/>
                        <a:t>핵심 콘텐츠 </a:t>
                      </a:r>
                    </a:p>
                    <a:p>
                      <a:pPr algn="ctr" latinLnBrk="1">
                        <a:defRPr/>
                      </a:pPr>
                      <a:r>
                        <a:rPr lang="ko-KR" altLang="en-US" sz="1800" b="1"/>
                        <a:t>예시 사진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" name="그림 2" descr="바퀴, 타이어, 차량, 육상 차량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831738" y="5012411"/>
            <a:ext cx="2859939" cy="1747344"/>
          </a:xfrm>
          <a:prstGeom prst="rect">
            <a:avLst/>
          </a:prstGeom>
        </p:spPr>
      </p:pic>
      <p:pic>
        <p:nvPicPr>
          <p:cNvPr id="5" name="그림 4" descr="하늘, 육상 차량, 차량, 자동차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rcRect l="7600" t="3300" r="8540" b="8860"/>
          <a:stretch>
            <a:fillRect/>
          </a:stretch>
        </p:blipFill>
        <p:spPr>
          <a:xfrm>
            <a:off x="4241025" y="5025473"/>
            <a:ext cx="2775857" cy="1665977"/>
          </a:xfrm>
          <a:prstGeom prst="rect">
            <a:avLst/>
          </a:prstGeom>
        </p:spPr>
      </p:pic>
      <p:sp>
        <p:nvSpPr>
          <p:cNvPr id="10" name="제목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sz="3200" b="1"/>
              <a:t>ㅣ</a:t>
            </a:r>
            <a:r>
              <a:rPr lang="en-US" altLang="ko-KR" sz="3200" b="1"/>
              <a:t>01</a:t>
            </a:r>
            <a:r>
              <a:rPr lang="ko-KR" altLang="en-US" sz="3200" b="1"/>
              <a:t> 게임 소개 </a:t>
            </a:r>
            <a:r>
              <a:rPr lang="en-US" altLang="ko-KR" sz="3200" b="1"/>
              <a:t>- </a:t>
            </a:r>
            <a:r>
              <a:rPr lang="ko-KR" altLang="en-US" sz="2400" b="1"/>
              <a:t>플레이 흐름</a:t>
            </a:r>
            <a:br>
              <a:rPr lang="en-US" altLang="ko-KR" sz="2400"/>
            </a:br>
            <a:endParaRPr lang="ko-KR" altLang="en-US" sz="32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DEC16-DBE9-6CB7-20FA-38BF8615A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>
            <a:extLst>
              <a:ext uri="{FF2B5EF4-FFF2-40B4-BE49-F238E27FC236}">
                <a16:creationId xmlns:a16="http://schemas.microsoft.com/office/drawing/2014/main" id="{9C407277-9284-F124-70DF-DC4ED39D2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sz="3200" b="1" dirty="0" err="1"/>
              <a:t>ㅣ</a:t>
            </a:r>
            <a:r>
              <a:rPr lang="en-US" altLang="ko-KR" sz="3200" b="1" dirty="0"/>
              <a:t>01</a:t>
            </a:r>
            <a:r>
              <a:rPr lang="ko-KR" altLang="en-US" sz="3200" b="1" dirty="0"/>
              <a:t> 게임 소개 </a:t>
            </a:r>
            <a:r>
              <a:rPr lang="en-US" altLang="ko-KR" sz="3200" b="1" dirty="0"/>
              <a:t>– </a:t>
            </a:r>
            <a:r>
              <a:rPr lang="ko-KR" altLang="en-US" sz="2400" b="1" dirty="0"/>
              <a:t>게임 조작</a:t>
            </a:r>
            <a:br>
              <a:rPr lang="en-US" altLang="ko-KR" sz="2400" dirty="0"/>
            </a:br>
            <a:endParaRPr lang="ko-KR" altLang="en-US" sz="3200" dirty="0"/>
          </a:p>
        </p:txBody>
      </p:sp>
      <p:graphicFrame>
        <p:nvGraphicFramePr>
          <p:cNvPr id="7" name="내용 개체 틀 6">
            <a:extLst>
              <a:ext uri="{FF2B5EF4-FFF2-40B4-BE49-F238E27FC236}">
                <a16:creationId xmlns:a16="http://schemas.microsoft.com/office/drawing/2014/main" id="{09B702A0-B570-9EF3-A541-C928406AEC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4705719"/>
              </p:ext>
            </p:extLst>
          </p:nvPr>
        </p:nvGraphicFramePr>
        <p:xfrm>
          <a:off x="2143124" y="2316480"/>
          <a:ext cx="7905752" cy="22250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976438">
                  <a:extLst>
                    <a:ext uri="{9D8B030D-6E8A-4147-A177-3AD203B41FA5}">
                      <a16:colId xmlns:a16="http://schemas.microsoft.com/office/drawing/2014/main" val="1894978814"/>
                    </a:ext>
                  </a:extLst>
                </a:gridCol>
                <a:gridCol w="1976438">
                  <a:extLst>
                    <a:ext uri="{9D8B030D-6E8A-4147-A177-3AD203B41FA5}">
                      <a16:colId xmlns:a16="http://schemas.microsoft.com/office/drawing/2014/main" val="3228035725"/>
                    </a:ext>
                  </a:extLst>
                </a:gridCol>
                <a:gridCol w="1976438">
                  <a:extLst>
                    <a:ext uri="{9D8B030D-6E8A-4147-A177-3AD203B41FA5}">
                      <a16:colId xmlns:a16="http://schemas.microsoft.com/office/drawing/2014/main" val="1846215003"/>
                    </a:ext>
                  </a:extLst>
                </a:gridCol>
                <a:gridCol w="1976438">
                  <a:extLst>
                    <a:ext uri="{9D8B030D-6E8A-4147-A177-3AD203B41FA5}">
                      <a16:colId xmlns:a16="http://schemas.microsoft.com/office/drawing/2014/main" val="1488625339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이동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상호작용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9956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W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전면 이동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F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아이템 줍기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8543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좌측 이동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적재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4734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후방 이동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마우스 왼쪽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총알 발사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8391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우측 이동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ESC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종료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4957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Space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점프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69993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409114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5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sz="3200" b="1"/>
              <a:t>ㅣ</a:t>
            </a:r>
            <a:r>
              <a:rPr lang="en-US" altLang="ko-KR" sz="3200" b="1"/>
              <a:t>02 </a:t>
            </a:r>
            <a:r>
              <a:rPr lang="ko-KR" altLang="en-US" sz="3200" b="1"/>
              <a:t>구성원 역할</a:t>
            </a:r>
            <a:br>
              <a:rPr lang="en-US" altLang="ko-KR" sz="2400" b="1"/>
            </a:br>
            <a:endParaRPr lang="ko-KR" altLang="en-US" sz="2800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0904411"/>
              </p:ext>
            </p:extLst>
          </p:nvPr>
        </p:nvGraphicFramePr>
        <p:xfrm>
          <a:off x="1598188" y="2243666"/>
          <a:ext cx="9398909" cy="3154284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138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301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01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5117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/>
                        <a:t>박신우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dirty="0" err="1"/>
                        <a:t>배주환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/>
                        <a:t>안윤진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/>
                        <a:t>플레이어와 트럭</a:t>
                      </a:r>
                      <a:r>
                        <a:rPr lang="en-US" altLang="ko-KR"/>
                        <a:t>,</a:t>
                      </a:r>
                      <a:r>
                        <a:rPr lang="ko-KR" altLang="en-US"/>
                        <a:t> 아이템</a:t>
                      </a:r>
                    </a:p>
                    <a:p>
                      <a:pPr algn="ctr" latinLnBrk="1">
                        <a:defRPr/>
                      </a:pPr>
                      <a:r>
                        <a:rPr lang="ko-KR" altLang="en-US"/>
                        <a:t>상호작용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dirty="0"/>
                        <a:t>서버 프레임워크 제작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스테이지 맵 제작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5117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/>
                        <a:t>좀비의 피격효과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dirty="0"/>
                        <a:t>플레이어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트럭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아이템 동기화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dirty="0"/>
                        <a:t>UI </a:t>
                      </a:r>
                      <a:r>
                        <a:rPr lang="ko-KR" altLang="en-US" dirty="0"/>
                        <a:t>제작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5117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/>
                        <a:t>좀비의 행동패턴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dirty="0"/>
                        <a:t>좀비 동기화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dirty="0"/>
                        <a:t>나이아가라 사용 </a:t>
                      </a:r>
                      <a:endParaRPr lang="en-US" altLang="ko-KR" dirty="0"/>
                    </a:p>
                    <a:p>
                      <a:pPr algn="ctr" latinLnBrk="1">
                        <a:defRPr/>
                      </a:pPr>
                      <a:r>
                        <a:rPr lang="ko-KR" altLang="en-US" dirty="0"/>
                        <a:t>이펙트 제작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5117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스테이지 맵 제작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dirty="0"/>
                        <a:t>문 동기화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6EC99-B6DD-690C-9C40-CB511F066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098029-4BCB-AF54-D5F4-28F650452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b="1" dirty="0" err="1"/>
              <a:t>ㅣ</a:t>
            </a:r>
            <a:r>
              <a:rPr lang="en-US" altLang="ko-KR" sz="3200" b="1" dirty="0"/>
              <a:t>03</a:t>
            </a:r>
            <a:r>
              <a:rPr lang="ko-KR" altLang="en-US" sz="3200" b="1" dirty="0"/>
              <a:t> 기술 요소</a:t>
            </a:r>
            <a:r>
              <a:rPr lang="en-US" altLang="ko-KR" sz="3200" b="1" dirty="0"/>
              <a:t>/</a:t>
            </a:r>
            <a:r>
              <a:rPr lang="ko-KR" altLang="en-US" sz="3200" b="1" dirty="0"/>
              <a:t>중점연구 분야</a:t>
            </a:r>
            <a:br>
              <a:rPr lang="en-US" altLang="ko-KR" sz="3200" b="1" dirty="0"/>
            </a:br>
            <a:endParaRPr lang="ko-KR" altLang="en-US" sz="3200" b="1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2AB5E67-4DA8-5689-ABFD-E2E654F6F8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0677123"/>
              </p:ext>
            </p:extLst>
          </p:nvPr>
        </p:nvGraphicFramePr>
        <p:xfrm>
          <a:off x="3092245" y="2945444"/>
          <a:ext cx="6007509" cy="2102192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002503">
                  <a:extLst>
                    <a:ext uri="{9D8B030D-6E8A-4147-A177-3AD203B41FA5}">
                      <a16:colId xmlns:a16="http://schemas.microsoft.com/office/drawing/2014/main" val="3174496282"/>
                    </a:ext>
                  </a:extLst>
                </a:gridCol>
                <a:gridCol w="2002503">
                  <a:extLst>
                    <a:ext uri="{9D8B030D-6E8A-4147-A177-3AD203B41FA5}">
                      <a16:colId xmlns:a16="http://schemas.microsoft.com/office/drawing/2014/main" val="71352833"/>
                    </a:ext>
                  </a:extLst>
                </a:gridCol>
                <a:gridCol w="2002503">
                  <a:extLst>
                    <a:ext uri="{9D8B030D-6E8A-4147-A177-3AD203B41FA5}">
                      <a16:colId xmlns:a16="http://schemas.microsoft.com/office/drawing/2014/main" val="3956487614"/>
                    </a:ext>
                  </a:extLst>
                </a:gridCol>
              </a:tblGrid>
              <a:tr h="21021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레그돌</a:t>
                      </a:r>
                      <a:r>
                        <a:rPr lang="ko-KR" altLang="en-US" dirty="0"/>
                        <a:t> 효과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IOCP</a:t>
                      </a:r>
                      <a:r>
                        <a:rPr lang="ko-KR" altLang="en-US" dirty="0"/>
                        <a:t>를 이용한 멀티 플레이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이펙트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sz="1200" b="0" dirty="0"/>
                        <a:t>나이아가라 사용해 표현</a:t>
                      </a:r>
                      <a:endParaRPr lang="en-US" altLang="ko-KR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71127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8510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3553A278-C92C-8B57-0DCA-090CCD99BE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92250"/>
            <a:ext cx="5420015" cy="3635376"/>
          </a:xfrm>
          <a:prstGeom prst="rect">
            <a:avLst/>
          </a:prstGeom>
        </p:spPr>
      </p:pic>
      <p:sp>
        <p:nvSpPr>
          <p:cNvPr id="4" name="제목 9"/>
          <p:cNvSpPr>
            <a:spLocks noGrp="1"/>
          </p:cNvSpPr>
          <p:nvPr>
            <p:ph type="title"/>
          </p:nvPr>
        </p:nvSpPr>
        <p:spPr>
          <a:xfrm>
            <a:off x="838200" y="301358"/>
            <a:ext cx="10515600" cy="1325563"/>
          </a:xfr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 sz="3200" b="1" dirty="0" err="1"/>
              <a:t>ㅣ</a:t>
            </a:r>
            <a:r>
              <a:rPr lang="en-US" altLang="ko-KR" sz="3200" b="1" dirty="0"/>
              <a:t>04</a:t>
            </a:r>
            <a:r>
              <a:rPr lang="ko-KR" altLang="en-US" sz="3200" b="1" dirty="0"/>
              <a:t> 개발 내용</a:t>
            </a:r>
            <a:r>
              <a:rPr lang="en-US" altLang="ko-KR" sz="3200" b="1" dirty="0"/>
              <a:t>-</a:t>
            </a:r>
            <a:r>
              <a:rPr lang="ko-KR" altLang="en-US" sz="3200" b="1" dirty="0"/>
              <a:t> </a:t>
            </a:r>
            <a:r>
              <a:rPr lang="en-US" altLang="ko-KR" sz="3200" b="1" dirty="0"/>
              <a:t>1</a:t>
            </a:r>
            <a:r>
              <a:rPr lang="ko-KR" altLang="en-US" sz="3200" b="1" dirty="0"/>
              <a:t>스테이지</a:t>
            </a:r>
            <a:br>
              <a:rPr lang="en-US" altLang="ko-KR" sz="3200" b="1" dirty="0"/>
            </a:br>
            <a:endParaRPr lang="en-US" altLang="ko-KR" sz="2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9C4BF98-1275-861A-554F-EFCA54FAF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66" y="365125"/>
            <a:ext cx="4787552" cy="31316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0CDFA8F-E46F-4B9E-5B6A-32C199E9C3F7}"/>
              </a:ext>
            </a:extLst>
          </p:cNvPr>
          <p:cNvSpPr txBox="1"/>
          <p:nvPr/>
        </p:nvSpPr>
        <p:spPr>
          <a:xfrm>
            <a:off x="1178233" y="5422948"/>
            <a:ext cx="3831917" cy="92333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고정 </a:t>
            </a:r>
            <a:r>
              <a:rPr lang="ko-KR" altLang="en-US" dirty="0" err="1"/>
              <a:t>디자인맵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 err="1"/>
              <a:t>파밍용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PCG</a:t>
            </a:r>
            <a:r>
              <a:rPr lang="ko-KR" altLang="en-US" dirty="0"/>
              <a:t> 사용해 나무 랜덤 배치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5B9C61C-732F-6E96-236C-483D5BCA3C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5642" y="3710149"/>
            <a:ext cx="4498158" cy="27827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12470" y="1465007"/>
            <a:ext cx="7421710" cy="46790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E02932A-97BF-4030-C121-7317051346FF}"/>
              </a:ext>
            </a:extLst>
          </p:cNvPr>
          <p:cNvSpPr txBox="1"/>
          <p:nvPr/>
        </p:nvSpPr>
        <p:spPr>
          <a:xfrm>
            <a:off x="8931581" y="3105834"/>
            <a:ext cx="2603090" cy="92333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자동 랜덤 </a:t>
            </a:r>
            <a:r>
              <a:rPr lang="ko-KR" altLang="en-US" dirty="0" err="1"/>
              <a:t>생성맵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도로 질주용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좀비들 </a:t>
            </a:r>
            <a:r>
              <a:rPr lang="ko-KR" altLang="en-US" dirty="0" err="1"/>
              <a:t>추격맵</a:t>
            </a:r>
            <a:endParaRPr lang="ko-KR" altLang="en-US" dirty="0"/>
          </a:p>
        </p:txBody>
      </p:sp>
      <p:sp>
        <p:nvSpPr>
          <p:cNvPr id="12" name="제목 9">
            <a:extLst>
              <a:ext uri="{FF2B5EF4-FFF2-40B4-BE49-F238E27FC236}">
                <a16:creationId xmlns:a16="http://schemas.microsoft.com/office/drawing/2014/main" id="{890EC6AD-3DB3-CFCA-D02C-5101C5F1D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1358"/>
            <a:ext cx="10515600" cy="1325563"/>
          </a:xfr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 sz="3200" b="1" dirty="0" err="1"/>
              <a:t>ㅣ</a:t>
            </a:r>
            <a:r>
              <a:rPr lang="en-US" altLang="ko-KR" sz="3200" b="1" dirty="0"/>
              <a:t>04</a:t>
            </a:r>
            <a:r>
              <a:rPr lang="ko-KR" altLang="en-US" sz="3200" b="1" dirty="0"/>
              <a:t> 개발 내용</a:t>
            </a:r>
            <a:r>
              <a:rPr lang="en-US" altLang="ko-KR" sz="3200" b="1" dirty="0"/>
              <a:t>-</a:t>
            </a:r>
            <a:r>
              <a:rPr lang="ko-KR" altLang="en-US" sz="3200" b="1" dirty="0"/>
              <a:t> </a:t>
            </a:r>
            <a:r>
              <a:rPr lang="en-US" altLang="ko-KR" sz="3200" b="1" dirty="0"/>
              <a:t>2</a:t>
            </a:r>
            <a:r>
              <a:rPr lang="ko-KR" altLang="en-US" sz="3200" b="1" dirty="0"/>
              <a:t>스테이지</a:t>
            </a:r>
            <a:br>
              <a:rPr lang="en-US" altLang="ko-KR" sz="3200" b="1" dirty="0"/>
            </a:br>
            <a:endParaRPr lang="en-US" altLang="ko-KR" sz="2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441450" y="1431658"/>
            <a:ext cx="6741688" cy="518059"/>
          </a:xfrm>
        </p:spPr>
        <p:txBody>
          <a:bodyPr>
            <a:noAutofit/>
          </a:bodyPr>
          <a:lstStyle/>
          <a:p>
            <a:pPr latinLnBrk="1">
              <a:defRPr/>
            </a:pPr>
            <a:r>
              <a:rPr lang="en-US" altLang="ko-KR" sz="1600" dirty="0"/>
              <a:t>- </a:t>
            </a:r>
            <a:r>
              <a:rPr lang="ko-KR" altLang="en-US" sz="1600" dirty="0" err="1"/>
              <a:t>레그돌</a:t>
            </a:r>
            <a:r>
              <a:rPr lang="ko-KR" altLang="en-US" sz="1600" dirty="0"/>
              <a:t> 효과 </a:t>
            </a:r>
            <a:r>
              <a:rPr lang="en-US" altLang="ko-KR" sz="1600" dirty="0"/>
              <a:t>: </a:t>
            </a:r>
            <a:r>
              <a:rPr lang="ko-KR" altLang="en-US" sz="1600" dirty="0"/>
              <a:t>좀비 피격 시 해당 위치의 분리</a:t>
            </a:r>
          </a:p>
        </p:txBody>
      </p:sp>
      <p:pic>
        <p:nvPicPr>
          <p:cNvPr id="3" name="내용 개체 틀 2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6686236" y="1862128"/>
            <a:ext cx="2816039" cy="435133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998151" y="2078028"/>
            <a:ext cx="3775660" cy="180401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923869" y="4347404"/>
            <a:ext cx="3924224" cy="1530200"/>
          </a:xfrm>
          <a:prstGeom prst="rect">
            <a:avLst/>
          </a:prstGeom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9AA5AA16-8269-1BF9-E006-9DE5E931F7F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 err="1"/>
              <a:t>ㅣ</a:t>
            </a:r>
            <a:r>
              <a:rPr lang="en-US" altLang="ko-KR" sz="3200" b="1" dirty="0"/>
              <a:t>04</a:t>
            </a:r>
            <a:r>
              <a:rPr lang="ko-KR" altLang="en-US" sz="3200" b="1" dirty="0"/>
              <a:t> 개발 내용</a:t>
            </a:r>
            <a:r>
              <a:rPr lang="en-US" altLang="ko-KR" sz="3200" b="1" dirty="0"/>
              <a:t> - </a:t>
            </a:r>
            <a:r>
              <a:rPr lang="ko-KR" altLang="en-US" sz="3200" b="1" dirty="0"/>
              <a:t>중점 연구분야</a:t>
            </a:r>
            <a:br>
              <a:rPr lang="en-US" altLang="ko-KR" sz="3200" b="1" dirty="0"/>
            </a:br>
            <a:endParaRPr lang="ko-KR" altLang="en-US" sz="32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55F4D-FC95-6106-83FD-370938FA8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A24A56-96B0-5E35-4E66-22B2BDCF6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1450" y="1431658"/>
            <a:ext cx="6741688" cy="518059"/>
          </a:xfrm>
        </p:spPr>
        <p:txBody>
          <a:bodyPr>
            <a:noAutofit/>
          </a:bodyPr>
          <a:lstStyle/>
          <a:p>
            <a:pPr latinLnBrk="1">
              <a:defRPr/>
            </a:pPr>
            <a:r>
              <a:rPr lang="en-US" altLang="ko-KR" sz="1600" dirty="0"/>
              <a:t>- </a:t>
            </a:r>
            <a:r>
              <a:rPr lang="ko-KR" altLang="en-US" sz="1600" dirty="0"/>
              <a:t>나이아가라 사용한 이펙트 </a:t>
            </a:r>
            <a:r>
              <a:rPr lang="en-US" altLang="ko-KR" sz="1600" dirty="0"/>
              <a:t>: </a:t>
            </a:r>
            <a:r>
              <a:rPr lang="ko-KR" altLang="en-US" sz="1600" dirty="0"/>
              <a:t>트럭 파손 연기 </a:t>
            </a:r>
            <a:r>
              <a:rPr lang="en-US" altLang="ko-KR" sz="1600" dirty="0"/>
              <a:t>&amp; </a:t>
            </a:r>
            <a:r>
              <a:rPr lang="ko-KR" altLang="en-US" sz="1600" dirty="0"/>
              <a:t>매연 </a:t>
            </a:r>
            <a:r>
              <a:rPr lang="en-US" altLang="ko-KR" sz="1600" dirty="0"/>
              <a:t>&amp; </a:t>
            </a:r>
            <a:r>
              <a:rPr lang="ko-KR" altLang="en-US" sz="1600" dirty="0"/>
              <a:t>출혈</a:t>
            </a: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1B35FBF-AF95-6494-E176-CE1B5C700165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 err="1"/>
              <a:t>ㅣ</a:t>
            </a:r>
            <a:r>
              <a:rPr lang="en-US" altLang="ko-KR" sz="3200" b="1" dirty="0"/>
              <a:t>04</a:t>
            </a:r>
            <a:r>
              <a:rPr lang="ko-KR" altLang="en-US" sz="3200" b="1" dirty="0"/>
              <a:t> 개발 내용</a:t>
            </a:r>
            <a:r>
              <a:rPr lang="en-US" altLang="ko-KR" sz="3200" b="1" dirty="0"/>
              <a:t> - </a:t>
            </a:r>
            <a:r>
              <a:rPr lang="ko-KR" altLang="en-US" sz="3200" b="1" dirty="0"/>
              <a:t>중점 연구분야</a:t>
            </a:r>
            <a:br>
              <a:rPr lang="en-US" altLang="ko-KR" sz="3200" b="1" dirty="0"/>
            </a:br>
            <a:endParaRPr lang="ko-KR" altLang="en-US" sz="3200" b="1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A3ADAC7-52BC-C1D1-BB25-A404EF27F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693" y="1905048"/>
            <a:ext cx="3191367" cy="220940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AD38C2B-2305-8B74-3908-0305372DFC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693" y="4201908"/>
            <a:ext cx="3191368" cy="212078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8CAE21F-1756-A6A5-277E-39B736181A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2250" y="1905048"/>
            <a:ext cx="2753045" cy="216473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F98F3BB-C34C-AAAD-8E80-D25005DC87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7644" y="1842703"/>
            <a:ext cx="2438740" cy="348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744635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2D98D-8B46-FEA6-C4E2-4558EFF62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AC55B8-AF65-B46C-5C17-732796418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1450" y="1431658"/>
            <a:ext cx="6741688" cy="518059"/>
          </a:xfrm>
        </p:spPr>
        <p:txBody>
          <a:bodyPr>
            <a:noAutofit/>
          </a:bodyPr>
          <a:lstStyle/>
          <a:p>
            <a:pPr latinLnBrk="1">
              <a:defRPr/>
            </a:pPr>
            <a:r>
              <a:rPr lang="en-US" altLang="ko-KR" sz="1600" dirty="0"/>
              <a:t>- </a:t>
            </a:r>
            <a:r>
              <a:rPr lang="ko-KR" altLang="en-US" sz="1600" dirty="0"/>
              <a:t>메인 쓰레드 </a:t>
            </a:r>
            <a:r>
              <a:rPr lang="en-US" altLang="ko-KR" sz="1600" dirty="0"/>
              <a:t>+ </a:t>
            </a:r>
            <a:r>
              <a:rPr lang="ko-KR" altLang="en-US" sz="1600" dirty="0"/>
              <a:t>워커 쓰레드 </a:t>
            </a:r>
            <a:r>
              <a:rPr lang="en-US" altLang="ko-KR" sz="1600" dirty="0"/>
              <a:t>5</a:t>
            </a:r>
            <a:r>
              <a:rPr lang="ko-KR" altLang="en-US" sz="1600" dirty="0"/>
              <a:t>개를 이용한 </a:t>
            </a:r>
            <a:r>
              <a:rPr lang="ko-KR" altLang="en-US" sz="1600" dirty="0" err="1"/>
              <a:t>멀티쓰레드</a:t>
            </a:r>
            <a:endParaRPr lang="ko-KR" altLang="en-US" sz="1600" dirty="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F1F30352-47C9-3C46-8CB7-974A54F4996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 err="1"/>
              <a:t>ㅣ</a:t>
            </a:r>
            <a:r>
              <a:rPr lang="en-US" altLang="ko-KR" sz="3200" b="1" dirty="0"/>
              <a:t>04</a:t>
            </a:r>
            <a:r>
              <a:rPr lang="ko-KR" altLang="en-US" sz="3200" b="1" dirty="0"/>
              <a:t> 개발 내용</a:t>
            </a:r>
            <a:r>
              <a:rPr lang="en-US" altLang="ko-KR" sz="3200" b="1" dirty="0"/>
              <a:t> - </a:t>
            </a:r>
            <a:r>
              <a:rPr lang="ko-KR" altLang="en-US" sz="3200" b="1" dirty="0"/>
              <a:t>중점 연구분야</a:t>
            </a:r>
            <a:br>
              <a:rPr lang="en-US" altLang="ko-KR" sz="3200" b="1" dirty="0"/>
            </a:br>
            <a:endParaRPr lang="ko-KR" altLang="en-US" sz="32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B0351FC-397F-6013-3379-0895FFCBA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320" y="2377986"/>
            <a:ext cx="2800741" cy="127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723695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BCB6B-0023-E23A-B93C-193792A93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499CD7-B334-BD61-58DB-D548DC9FE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1450" y="1431658"/>
            <a:ext cx="6741688" cy="518059"/>
          </a:xfrm>
        </p:spPr>
        <p:txBody>
          <a:bodyPr>
            <a:noAutofit/>
          </a:bodyPr>
          <a:lstStyle/>
          <a:p>
            <a:pPr latinLnBrk="1">
              <a:defRPr/>
            </a:pPr>
            <a:r>
              <a:rPr lang="en-US" altLang="ko-KR" sz="1600" dirty="0"/>
              <a:t>- UI</a:t>
            </a:r>
            <a:r>
              <a:rPr lang="ko-KR" altLang="en-US" sz="1600" dirty="0"/>
              <a:t> 제작</a:t>
            </a: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902A554F-4E45-54BD-E69A-8FE4AEAF60F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 err="1"/>
              <a:t>ㅣ</a:t>
            </a:r>
            <a:r>
              <a:rPr lang="en-US" altLang="ko-KR" sz="3200" b="1" dirty="0"/>
              <a:t>04</a:t>
            </a:r>
            <a:r>
              <a:rPr lang="ko-KR" altLang="en-US" sz="3200" b="1" dirty="0"/>
              <a:t> 개발 내용</a:t>
            </a:r>
            <a:br>
              <a:rPr lang="en-US" altLang="ko-KR" sz="3200" b="1" dirty="0"/>
            </a:br>
            <a:endParaRPr lang="ko-KR" altLang="en-US" sz="3200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D3559FB-0AC1-0E64-3424-774A92BD8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0" y="2515260"/>
            <a:ext cx="3716294" cy="244978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7BE69E4-9E2C-6271-8E87-139014885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4308" y="1027906"/>
            <a:ext cx="2984160" cy="47263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5B143C-8B8C-F2D8-4E8E-EE8F9A374189}"/>
              </a:ext>
            </a:extLst>
          </p:cNvPr>
          <p:cNvSpPr txBox="1"/>
          <p:nvPr/>
        </p:nvSpPr>
        <p:spPr>
          <a:xfrm>
            <a:off x="8445500" y="5892035"/>
            <a:ext cx="1479550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상호작용</a:t>
            </a:r>
            <a:r>
              <a:rPr lang="en-US" altLang="ko-KR" sz="1400" dirty="0"/>
              <a:t>UI</a:t>
            </a:r>
            <a:endParaRPr lang="ko-KR" alt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2600A4-4191-44DC-537F-8E0715DEAB2A}"/>
              </a:ext>
            </a:extLst>
          </p:cNvPr>
          <p:cNvSpPr txBox="1"/>
          <p:nvPr/>
        </p:nvSpPr>
        <p:spPr>
          <a:xfrm>
            <a:off x="2851150" y="5118565"/>
            <a:ext cx="1663700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BaseUI</a:t>
            </a:r>
            <a:r>
              <a:rPr lang="en-US" altLang="ko-KR" sz="1400" dirty="0"/>
              <a:t> + </a:t>
            </a:r>
            <a:r>
              <a:rPr lang="ko-KR" altLang="en-US" sz="1400" dirty="0"/>
              <a:t>타이머</a:t>
            </a:r>
          </a:p>
        </p:txBody>
      </p:sp>
    </p:spTree>
    <p:extLst>
      <p:ext uri="{BB962C8B-B14F-4D97-AF65-F5344CB8AC3E}">
        <p14:creationId xmlns:p14="http://schemas.microsoft.com/office/powerpoint/2010/main" val="3034765650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D1B820CA-E8F7-568A-13B4-3E8D32721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b="1" dirty="0" err="1"/>
              <a:t>ㅣ</a:t>
            </a:r>
            <a:r>
              <a:rPr lang="en-US" altLang="ko-KR" sz="3200" b="1" dirty="0"/>
              <a:t>05</a:t>
            </a:r>
            <a:r>
              <a:rPr lang="ko-KR" altLang="en-US" sz="3200" b="1" dirty="0"/>
              <a:t> 문제점 및 보완책</a:t>
            </a:r>
            <a:br>
              <a:rPr lang="en-US" altLang="ko-KR" sz="3200" b="1" dirty="0"/>
            </a:br>
            <a:endParaRPr lang="ko-KR" altLang="en-US" sz="3200" b="1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71F82B0-45BB-A97D-545D-9C1B26A540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3067880"/>
              </p:ext>
            </p:extLst>
          </p:nvPr>
        </p:nvGraphicFramePr>
        <p:xfrm>
          <a:off x="1103085" y="2080793"/>
          <a:ext cx="9985829" cy="3763434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311776">
                  <a:extLst>
                    <a:ext uri="{9D8B030D-6E8A-4147-A177-3AD203B41FA5}">
                      <a16:colId xmlns:a16="http://schemas.microsoft.com/office/drawing/2014/main" val="1829481345"/>
                    </a:ext>
                  </a:extLst>
                </a:gridCol>
                <a:gridCol w="7674053">
                  <a:extLst>
                    <a:ext uri="{9D8B030D-6E8A-4147-A177-3AD203B41FA5}">
                      <a16:colId xmlns:a16="http://schemas.microsoft.com/office/drawing/2014/main" val="3114630434"/>
                    </a:ext>
                  </a:extLst>
                </a:gridCol>
              </a:tblGrid>
              <a:tr h="21685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/>
                        <a:t>문제점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트럭 관련 버그 다수</a:t>
                      </a:r>
                      <a:r>
                        <a:rPr lang="en-US" altLang="ko-KR" b="0" dirty="0"/>
                        <a:t>, </a:t>
                      </a:r>
                      <a:r>
                        <a:rPr lang="ko-KR" altLang="en-US" b="0" dirty="0"/>
                        <a:t>컨텐츠 부족</a:t>
                      </a:r>
                      <a:endParaRPr lang="en-US" altLang="ko-KR" b="0" dirty="0"/>
                    </a:p>
                    <a:p>
                      <a:pPr algn="ctr" latinLnBrk="1"/>
                      <a:r>
                        <a:rPr lang="ko-KR" altLang="en-US" b="0" dirty="0" err="1"/>
                        <a:t>조작감</a:t>
                      </a:r>
                      <a:r>
                        <a:rPr lang="en-US" altLang="ko-KR" b="0" dirty="0"/>
                        <a:t>, </a:t>
                      </a:r>
                      <a:r>
                        <a:rPr lang="ko-KR" altLang="en-US" b="0" dirty="0"/>
                        <a:t>애니메이션 등 디테일 부족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5505673"/>
                  </a:ext>
                </a:extLst>
              </a:tr>
              <a:tr h="1594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/>
                        <a:t>보완책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ctr" latinLnBrk="1">
                        <a:buFontTx/>
                        <a:buChar char="-"/>
                      </a:pPr>
                      <a:r>
                        <a:rPr lang="ko-KR" altLang="en-US" dirty="0"/>
                        <a:t>다양한 방향 테스트 시도 </a:t>
                      </a:r>
                      <a:r>
                        <a:rPr lang="en-US" altLang="ko-KR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트럭 기능 안정화 최우선</a:t>
                      </a:r>
                      <a:endParaRPr lang="en-US" altLang="ko-KR" dirty="0"/>
                    </a:p>
                    <a:p>
                      <a:pPr marL="285750" indent="-285750" algn="ctr" latinLnBrk="1">
                        <a:buFontTx/>
                        <a:buChar char="-"/>
                      </a:pPr>
                      <a:r>
                        <a:rPr lang="ko-KR" altLang="en-US" dirty="0"/>
                        <a:t>다양한 애니메이션 추가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- </a:t>
                      </a:r>
                      <a:r>
                        <a:rPr lang="ko-KR" altLang="en-US" dirty="0"/>
                        <a:t>사운드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이펙트 등 추가 예정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68529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82664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7A36F46C-D816-EDD5-8CF5-E96F701D21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6636743"/>
              </p:ext>
            </p:extLst>
          </p:nvPr>
        </p:nvGraphicFramePr>
        <p:xfrm>
          <a:off x="388617" y="945147"/>
          <a:ext cx="11357487" cy="58953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54655">
                  <a:extLst>
                    <a:ext uri="{9D8B030D-6E8A-4147-A177-3AD203B41FA5}">
                      <a16:colId xmlns:a16="http://schemas.microsoft.com/office/drawing/2014/main" val="688046876"/>
                    </a:ext>
                  </a:extLst>
                </a:gridCol>
                <a:gridCol w="1050354">
                  <a:extLst>
                    <a:ext uri="{9D8B030D-6E8A-4147-A177-3AD203B41FA5}">
                      <a16:colId xmlns:a16="http://schemas.microsoft.com/office/drawing/2014/main" val="265708735"/>
                    </a:ext>
                  </a:extLst>
                </a:gridCol>
                <a:gridCol w="1050354">
                  <a:extLst>
                    <a:ext uri="{9D8B030D-6E8A-4147-A177-3AD203B41FA5}">
                      <a16:colId xmlns:a16="http://schemas.microsoft.com/office/drawing/2014/main" val="3471198270"/>
                    </a:ext>
                  </a:extLst>
                </a:gridCol>
                <a:gridCol w="1050354">
                  <a:extLst>
                    <a:ext uri="{9D8B030D-6E8A-4147-A177-3AD203B41FA5}">
                      <a16:colId xmlns:a16="http://schemas.microsoft.com/office/drawing/2014/main" val="2495761207"/>
                    </a:ext>
                  </a:extLst>
                </a:gridCol>
                <a:gridCol w="1050354">
                  <a:extLst>
                    <a:ext uri="{9D8B030D-6E8A-4147-A177-3AD203B41FA5}">
                      <a16:colId xmlns:a16="http://schemas.microsoft.com/office/drawing/2014/main" val="3306864403"/>
                    </a:ext>
                  </a:extLst>
                </a:gridCol>
                <a:gridCol w="1050354">
                  <a:extLst>
                    <a:ext uri="{9D8B030D-6E8A-4147-A177-3AD203B41FA5}">
                      <a16:colId xmlns:a16="http://schemas.microsoft.com/office/drawing/2014/main" val="954200664"/>
                    </a:ext>
                  </a:extLst>
                </a:gridCol>
                <a:gridCol w="1050354">
                  <a:extLst>
                    <a:ext uri="{9D8B030D-6E8A-4147-A177-3AD203B41FA5}">
                      <a16:colId xmlns:a16="http://schemas.microsoft.com/office/drawing/2014/main" val="148417192"/>
                    </a:ext>
                  </a:extLst>
                </a:gridCol>
                <a:gridCol w="1050354">
                  <a:extLst>
                    <a:ext uri="{9D8B030D-6E8A-4147-A177-3AD203B41FA5}">
                      <a16:colId xmlns:a16="http://schemas.microsoft.com/office/drawing/2014/main" val="1512490517"/>
                    </a:ext>
                  </a:extLst>
                </a:gridCol>
                <a:gridCol w="1050354">
                  <a:extLst>
                    <a:ext uri="{9D8B030D-6E8A-4147-A177-3AD203B41FA5}">
                      <a16:colId xmlns:a16="http://schemas.microsoft.com/office/drawing/2014/main" val="3378821971"/>
                    </a:ext>
                  </a:extLst>
                </a:gridCol>
              </a:tblGrid>
              <a:tr h="2798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 err="1"/>
                        <a:t>박신우</a:t>
                      </a:r>
                      <a:r>
                        <a:rPr lang="ko-KR" altLang="en-US" sz="1050" dirty="0"/>
                        <a:t> </a:t>
                      </a:r>
                      <a:r>
                        <a:rPr lang="en-US" altLang="ko-KR" sz="1050" dirty="0"/>
                        <a:t>: </a:t>
                      </a:r>
                      <a:r>
                        <a:rPr lang="ko-KR" altLang="en-US" sz="1050" dirty="0" err="1">
                          <a:solidFill>
                            <a:srgbClr val="FFFF00"/>
                          </a:solidFill>
                        </a:rPr>
                        <a:t>ㅇ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/>
                        <a:t>배주환 </a:t>
                      </a:r>
                      <a:r>
                        <a:rPr lang="en-US" altLang="ko-KR" sz="1050" dirty="0"/>
                        <a:t>: </a:t>
                      </a:r>
                      <a:r>
                        <a:rPr lang="ko-KR" altLang="en-US" sz="1050" dirty="0" err="1">
                          <a:solidFill>
                            <a:srgbClr val="00B050"/>
                          </a:solidFill>
                        </a:rPr>
                        <a:t>ㅇ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 err="1"/>
                        <a:t>안윤진</a:t>
                      </a:r>
                      <a:r>
                        <a:rPr lang="ko-KR" altLang="en-US" sz="1050" dirty="0"/>
                        <a:t> </a:t>
                      </a:r>
                      <a:r>
                        <a:rPr lang="en-US" altLang="ko-KR" sz="1050" dirty="0"/>
                        <a:t>: </a:t>
                      </a:r>
                      <a:r>
                        <a:rPr lang="ko-KR" altLang="en-US" sz="1050" dirty="0" err="1">
                          <a:solidFill>
                            <a:srgbClr val="0070C0"/>
                          </a:solidFill>
                        </a:rPr>
                        <a:t>ㅇ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공통 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050" dirty="0" err="1">
                          <a:solidFill>
                            <a:srgbClr val="FF0000"/>
                          </a:solidFill>
                        </a:rPr>
                        <a:t>ㅇ</a:t>
                      </a:r>
                      <a:endParaRPr lang="ko-KR" altLang="en-US" sz="105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</a:t>
                      </a:r>
                      <a:r>
                        <a:rPr lang="ko-KR" altLang="en-US" sz="1200" dirty="0"/>
                        <a:t>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</a:t>
                      </a:r>
                      <a:r>
                        <a:rPr lang="ko-KR" altLang="en-US" sz="1200" dirty="0"/>
                        <a:t>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</a:t>
                      </a:r>
                      <a:r>
                        <a:rPr lang="ko-KR" altLang="en-US" sz="1200" dirty="0"/>
                        <a:t>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</a:t>
                      </a:r>
                      <a:r>
                        <a:rPr lang="ko-KR" altLang="en-US" sz="1200" dirty="0"/>
                        <a:t>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5</a:t>
                      </a:r>
                      <a:r>
                        <a:rPr lang="ko-KR" altLang="en-US" sz="1200" dirty="0"/>
                        <a:t>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6</a:t>
                      </a:r>
                      <a:r>
                        <a:rPr lang="ko-KR" altLang="en-US" sz="1200" dirty="0"/>
                        <a:t>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7</a:t>
                      </a:r>
                      <a:r>
                        <a:rPr lang="ko-KR" altLang="en-US" sz="1200" dirty="0"/>
                        <a:t>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8</a:t>
                      </a:r>
                      <a:r>
                        <a:rPr lang="ko-KR" altLang="en-US" sz="1200" dirty="0"/>
                        <a:t>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9834635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리소스 수집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ighlight>
                            <a:srgbClr val="FFFF00"/>
                          </a:highlight>
                        </a:rPr>
                        <a:t>70%</a:t>
                      </a:r>
                      <a:endParaRPr lang="ko-KR" altLang="en-US" sz="1200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814406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기본 캐릭터 기능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highlight>
                            <a:srgbClr val="FFFF00"/>
                          </a:highlight>
                        </a:rPr>
                        <a:t>90% (</a:t>
                      </a:r>
                      <a:r>
                        <a:rPr lang="ko-KR" altLang="en-US" sz="1200" dirty="0">
                          <a:highlight>
                            <a:srgbClr val="FFFF00"/>
                          </a:highlight>
                        </a:rPr>
                        <a:t>애니메이션 부족</a:t>
                      </a:r>
                      <a:r>
                        <a:rPr lang="en-US" altLang="ko-KR" sz="1200" dirty="0">
                          <a:highlight>
                            <a:srgbClr val="FFFF00"/>
                          </a:highlight>
                        </a:rPr>
                        <a:t>)</a:t>
                      </a:r>
                      <a:endParaRPr lang="ko-KR" altLang="en-US" sz="1200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0405791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차량 기능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90% (</a:t>
                      </a:r>
                      <a:r>
                        <a:rPr lang="ko-KR" altLang="en-US" sz="1200" dirty="0"/>
                        <a:t>버그존재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013716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차량 충돌 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90%(</a:t>
                      </a:r>
                      <a:r>
                        <a:rPr lang="ko-KR" altLang="en-US" sz="1200" dirty="0"/>
                        <a:t>버그존재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9651276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차량 총기 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90%(</a:t>
                      </a:r>
                      <a:r>
                        <a:rPr lang="ko-KR" altLang="en-US" sz="1200" dirty="0" err="1"/>
                        <a:t>퀄리티부족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2360423"/>
                  </a:ext>
                </a:extLst>
              </a:tr>
              <a:tr h="30904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strike="sngStrike" dirty="0"/>
                        <a:t>차량 유탄 기관총 폭발 효과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strike="sngStri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strike="sngStri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strike="sngStrike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strike="noStrike" dirty="0"/>
                        <a:t>시간부족으로 삭제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strike="sngStri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strike="sngStri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strike="sngStri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7872532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차량 연기 이펙트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90%(</a:t>
                      </a:r>
                      <a:r>
                        <a:rPr lang="ko-KR" altLang="en-US" sz="1200" dirty="0" err="1"/>
                        <a:t>퀄리티부족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1563057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차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좀비 충돌 시 </a:t>
                      </a:r>
                      <a:r>
                        <a:rPr lang="ko-KR" altLang="en-US" sz="1200" dirty="0" err="1"/>
                        <a:t>피튀기는</a:t>
                      </a:r>
                      <a:r>
                        <a:rPr lang="ko-KR" altLang="en-US" sz="1200" dirty="0"/>
                        <a:t> 효과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90%(</a:t>
                      </a:r>
                      <a:r>
                        <a:rPr lang="ko-KR" altLang="en-US" sz="1200" dirty="0" err="1"/>
                        <a:t>퀄리티부족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7080840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좀비 애니메이션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10%</a:t>
                      </a:r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7067297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좀비 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251274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좀비 </a:t>
                      </a:r>
                      <a:r>
                        <a:rPr lang="en-US" altLang="ko-KR" sz="1200" dirty="0"/>
                        <a:t>AI </a:t>
                      </a:r>
                      <a:r>
                        <a:rPr lang="ko-KR" altLang="en-US" sz="1200" dirty="0"/>
                        <a:t>행동 트리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60%(</a:t>
                      </a:r>
                      <a:r>
                        <a:rPr lang="ko-KR" altLang="en-US" sz="1200" dirty="0"/>
                        <a:t>기본기만구현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7620649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서버 프레임워크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90%(</a:t>
                      </a:r>
                      <a:r>
                        <a:rPr lang="ko-KR" altLang="en-US" sz="1200" dirty="0" err="1"/>
                        <a:t>클라개발에</a:t>
                      </a:r>
                      <a:r>
                        <a:rPr lang="ko-KR" altLang="en-US" sz="1200" dirty="0"/>
                        <a:t> 따라 추가예정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931412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멀티 스레드 병렬처리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100%</a:t>
                      </a:r>
                      <a:endParaRPr lang="ko-KR" altLang="en-US" sz="12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0000698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서버 내 충돌처리 로직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60%(</a:t>
                      </a:r>
                      <a:r>
                        <a:rPr lang="ko-KR" altLang="en-US" sz="1200" dirty="0" err="1"/>
                        <a:t>클라개발에</a:t>
                      </a:r>
                      <a:r>
                        <a:rPr lang="ko-KR" altLang="en-US" sz="1200" dirty="0"/>
                        <a:t> 따라 추가예정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8549186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좀비 </a:t>
                      </a:r>
                      <a:r>
                        <a:rPr lang="en-US" altLang="ko-KR" sz="1200" dirty="0"/>
                        <a:t>AI </a:t>
                      </a:r>
                      <a:r>
                        <a:rPr lang="ko-KR" altLang="en-US" sz="1200" dirty="0"/>
                        <a:t>관련 서버 처리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20%(</a:t>
                      </a:r>
                      <a:r>
                        <a:rPr lang="ko-KR" altLang="en-US" sz="1200" dirty="0"/>
                        <a:t>좀비 위치 동기화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1460943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맵 디자인</a:t>
                      </a:r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50%( </a:t>
                      </a:r>
                      <a:r>
                        <a:rPr lang="ko-KR" altLang="en-US" sz="1200" dirty="0"/>
                        <a:t>맵</a:t>
                      </a:r>
                      <a:r>
                        <a:rPr lang="en-US" altLang="ko-KR" sz="1200" dirty="0"/>
                        <a:t>1 90%</a:t>
                      </a:r>
                      <a:r>
                        <a:rPr lang="ko-KR" altLang="en-US" sz="1200" dirty="0"/>
                        <a:t>완료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맵</a:t>
                      </a:r>
                      <a:r>
                        <a:rPr lang="en-US" altLang="ko-KR" sz="1200" dirty="0"/>
                        <a:t>2 –</a:t>
                      </a:r>
                      <a:r>
                        <a:rPr lang="ko-KR" altLang="en-US" sz="1200" dirty="0"/>
                        <a:t>신우형 도움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433632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화면 </a:t>
                      </a:r>
                      <a:r>
                        <a:rPr lang="en-US" altLang="ko-KR" sz="1200" dirty="0"/>
                        <a:t>UI</a:t>
                      </a:r>
                      <a:endParaRPr lang="ko-KR" altLang="en-US" sz="12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70%(2</a:t>
                      </a:r>
                      <a:r>
                        <a:rPr lang="ko-KR" altLang="en-US" sz="1200" dirty="0" err="1"/>
                        <a:t>라운드미완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403314"/>
                  </a:ext>
                </a:extLst>
              </a:tr>
              <a:tr h="246117">
                <a:tc rowSpan="2"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사운드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게임 플레이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10%</a:t>
                      </a:r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7112513"/>
                  </a:ext>
                </a:extLst>
              </a:tr>
              <a:tr h="2461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10%</a:t>
                      </a:r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8446170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테스트 및 버그수정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264788"/>
                  </a:ext>
                </a:extLst>
              </a:tr>
            </a:tbl>
          </a:graphicData>
        </a:graphic>
      </p:graphicFrame>
      <p:sp>
        <p:nvSpPr>
          <p:cNvPr id="5" name="제목 4">
            <a:extLst>
              <a:ext uri="{FF2B5EF4-FFF2-40B4-BE49-F238E27FC236}">
                <a16:creationId xmlns:a16="http://schemas.microsoft.com/office/drawing/2014/main" id="{C55DAFBF-2D88-9EB2-2ED3-D00FD78DB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1925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3200" b="1" dirty="0" err="1"/>
              <a:t>ㅣ</a:t>
            </a:r>
            <a:r>
              <a:rPr lang="en-US" altLang="ko-KR" sz="3200" b="1" dirty="0"/>
              <a:t>06</a:t>
            </a:r>
            <a:r>
              <a:rPr lang="ko-KR" altLang="en-US" sz="3200" b="1" dirty="0"/>
              <a:t> 현재 개발 진행도</a:t>
            </a:r>
            <a:br>
              <a:rPr lang="en-US" altLang="ko-KR" sz="3200" b="1" dirty="0"/>
            </a:br>
            <a:endParaRPr lang="ko-KR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430874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8DA71-7BF0-4C27-DE25-0F5375000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D2C86110-5861-753F-0B47-316F043658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8771786"/>
              </p:ext>
            </p:extLst>
          </p:nvPr>
        </p:nvGraphicFramePr>
        <p:xfrm>
          <a:off x="2279762" y="945147"/>
          <a:ext cx="7156071" cy="55862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54655">
                  <a:extLst>
                    <a:ext uri="{9D8B030D-6E8A-4147-A177-3AD203B41FA5}">
                      <a16:colId xmlns:a16="http://schemas.microsoft.com/office/drawing/2014/main" val="688046876"/>
                    </a:ext>
                  </a:extLst>
                </a:gridCol>
                <a:gridCol w="1050354">
                  <a:extLst>
                    <a:ext uri="{9D8B030D-6E8A-4147-A177-3AD203B41FA5}">
                      <a16:colId xmlns:a16="http://schemas.microsoft.com/office/drawing/2014/main" val="954200664"/>
                    </a:ext>
                  </a:extLst>
                </a:gridCol>
                <a:gridCol w="1050354">
                  <a:extLst>
                    <a:ext uri="{9D8B030D-6E8A-4147-A177-3AD203B41FA5}">
                      <a16:colId xmlns:a16="http://schemas.microsoft.com/office/drawing/2014/main" val="148417192"/>
                    </a:ext>
                  </a:extLst>
                </a:gridCol>
                <a:gridCol w="1050354">
                  <a:extLst>
                    <a:ext uri="{9D8B030D-6E8A-4147-A177-3AD203B41FA5}">
                      <a16:colId xmlns:a16="http://schemas.microsoft.com/office/drawing/2014/main" val="1512490517"/>
                    </a:ext>
                  </a:extLst>
                </a:gridCol>
                <a:gridCol w="1050354">
                  <a:extLst>
                    <a:ext uri="{9D8B030D-6E8A-4147-A177-3AD203B41FA5}">
                      <a16:colId xmlns:a16="http://schemas.microsoft.com/office/drawing/2014/main" val="3378821971"/>
                    </a:ext>
                  </a:extLst>
                </a:gridCol>
              </a:tblGrid>
              <a:tr h="2798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 err="1"/>
                        <a:t>박신우</a:t>
                      </a:r>
                      <a:r>
                        <a:rPr lang="ko-KR" altLang="en-US" sz="1050" dirty="0"/>
                        <a:t> </a:t>
                      </a:r>
                      <a:r>
                        <a:rPr lang="en-US" altLang="ko-KR" sz="1050" dirty="0"/>
                        <a:t>: </a:t>
                      </a:r>
                      <a:r>
                        <a:rPr lang="ko-KR" altLang="en-US" sz="1050" dirty="0" err="1">
                          <a:solidFill>
                            <a:srgbClr val="FFFF00"/>
                          </a:solidFill>
                        </a:rPr>
                        <a:t>ㅇ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/>
                        <a:t>배주환 </a:t>
                      </a:r>
                      <a:r>
                        <a:rPr lang="en-US" altLang="ko-KR" sz="1050" dirty="0"/>
                        <a:t>: </a:t>
                      </a:r>
                      <a:r>
                        <a:rPr lang="ko-KR" altLang="en-US" sz="1050" dirty="0" err="1">
                          <a:solidFill>
                            <a:srgbClr val="00B050"/>
                          </a:solidFill>
                        </a:rPr>
                        <a:t>ㅇ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 err="1"/>
                        <a:t>안윤진</a:t>
                      </a:r>
                      <a:r>
                        <a:rPr lang="ko-KR" altLang="en-US" sz="1050" dirty="0"/>
                        <a:t> </a:t>
                      </a:r>
                      <a:r>
                        <a:rPr lang="en-US" altLang="ko-KR" sz="1050" dirty="0"/>
                        <a:t>: </a:t>
                      </a:r>
                      <a:r>
                        <a:rPr lang="ko-KR" altLang="en-US" sz="1050" dirty="0" err="1">
                          <a:solidFill>
                            <a:srgbClr val="0070C0"/>
                          </a:solidFill>
                        </a:rPr>
                        <a:t>ㅇ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공통 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050" dirty="0" err="1">
                          <a:solidFill>
                            <a:srgbClr val="FF0000"/>
                          </a:solidFill>
                        </a:rPr>
                        <a:t>ㅇ</a:t>
                      </a:r>
                      <a:endParaRPr lang="ko-KR" altLang="en-US" sz="105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5</a:t>
                      </a:r>
                      <a:r>
                        <a:rPr lang="ko-KR" altLang="en-US" sz="1200" dirty="0"/>
                        <a:t>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6</a:t>
                      </a:r>
                      <a:r>
                        <a:rPr lang="ko-KR" altLang="en-US" sz="1200" dirty="0"/>
                        <a:t>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7</a:t>
                      </a:r>
                      <a:r>
                        <a:rPr lang="ko-KR" altLang="en-US" sz="1200" dirty="0"/>
                        <a:t>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8</a:t>
                      </a:r>
                      <a:r>
                        <a:rPr lang="ko-KR" altLang="en-US" sz="1200" dirty="0"/>
                        <a:t>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9834635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리소스 수집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814406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기본 캐릭터 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0405791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차량 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013716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차량 충돌 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9651276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차량 총기 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2360423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차량 연기 이펙트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1563057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차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좀비 충돌 시 </a:t>
                      </a:r>
                      <a:r>
                        <a:rPr lang="ko-KR" altLang="en-US" sz="1200" dirty="0" err="1"/>
                        <a:t>피튀기는</a:t>
                      </a:r>
                      <a:r>
                        <a:rPr lang="ko-KR" altLang="en-US" sz="1200" dirty="0"/>
                        <a:t> 효과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7080840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좀비 애니메이션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10%</a:t>
                      </a:r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7067297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좀비 기능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251274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좀비 </a:t>
                      </a:r>
                      <a:r>
                        <a:rPr lang="en-US" altLang="ko-KR" sz="1200" dirty="0"/>
                        <a:t>AI </a:t>
                      </a:r>
                      <a:r>
                        <a:rPr lang="ko-KR" altLang="en-US" sz="1200" dirty="0"/>
                        <a:t>행동 트리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60%(</a:t>
                      </a:r>
                      <a:r>
                        <a:rPr lang="ko-KR" altLang="en-US" sz="1200" dirty="0"/>
                        <a:t>기본기만구현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7620649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서버 프레임워크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931412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멀티 스레드 병렬처리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0000698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서버 내 충돌처리 로직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8549186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좀비 </a:t>
                      </a:r>
                      <a:r>
                        <a:rPr lang="en-US" altLang="ko-KR" sz="1200" dirty="0"/>
                        <a:t>AI </a:t>
                      </a:r>
                      <a:r>
                        <a:rPr lang="ko-KR" altLang="en-US" sz="1200" dirty="0"/>
                        <a:t>관련 서버 처리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1460943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맵 디자인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433632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화면 </a:t>
                      </a:r>
                      <a:r>
                        <a:rPr lang="en-US" altLang="ko-KR" sz="1200" dirty="0"/>
                        <a:t>UI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403314"/>
                  </a:ext>
                </a:extLst>
              </a:tr>
              <a:tr h="246117">
                <a:tc rowSpan="2"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사운드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게임 플레이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711251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8446170"/>
                  </a:ext>
                </a:extLst>
              </a:tr>
              <a:tr h="279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테스트 및 버그수정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264788"/>
                  </a:ext>
                </a:extLst>
              </a:tr>
            </a:tbl>
          </a:graphicData>
        </a:graphic>
      </p:graphicFrame>
      <p:sp>
        <p:nvSpPr>
          <p:cNvPr id="5" name="제목 4">
            <a:extLst>
              <a:ext uri="{FF2B5EF4-FFF2-40B4-BE49-F238E27FC236}">
                <a16:creationId xmlns:a16="http://schemas.microsoft.com/office/drawing/2014/main" id="{6AA7E8E0-839C-3A38-B152-2F765172F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1925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3200" b="1" dirty="0" err="1"/>
              <a:t>ㅣ</a:t>
            </a:r>
            <a:r>
              <a:rPr lang="en-US" altLang="ko-KR" sz="3200" b="1" dirty="0"/>
              <a:t>06</a:t>
            </a:r>
            <a:r>
              <a:rPr lang="ko-KR" altLang="en-US" sz="3200" b="1" dirty="0"/>
              <a:t> 향후 개발 일정</a:t>
            </a:r>
            <a:br>
              <a:rPr lang="en-US" altLang="ko-KR" sz="3200" b="1" dirty="0"/>
            </a:br>
            <a:endParaRPr lang="ko-KR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41669510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3DC59E-3A41-CC13-7B4B-4C5C08118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b="1" dirty="0" err="1"/>
              <a:t>ㅣ</a:t>
            </a:r>
            <a:r>
              <a:rPr lang="en-US" altLang="ko-KR" sz="3200" b="1" dirty="0"/>
              <a:t>07</a:t>
            </a:r>
            <a:r>
              <a:rPr lang="ko-KR" altLang="en-US" sz="3200" b="1" dirty="0"/>
              <a:t> 데모 시연</a:t>
            </a:r>
            <a:br>
              <a:rPr lang="en-US" altLang="ko-KR" sz="3200" b="1" dirty="0"/>
            </a:br>
            <a:endParaRPr lang="ko-KR" altLang="en-US" sz="3200" b="1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987FDDDB-CB69-22AC-A63A-2DF87779088C}"/>
              </a:ext>
            </a:extLst>
          </p:cNvPr>
          <p:cNvSpPr txBox="1">
            <a:spLocks/>
          </p:cNvSpPr>
          <p:nvPr/>
        </p:nvSpPr>
        <p:spPr>
          <a:xfrm>
            <a:off x="5327650" y="3048000"/>
            <a:ext cx="153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3200" b="1" dirty="0"/>
              <a:t>파이팅</a:t>
            </a:r>
            <a:r>
              <a:rPr lang="en-US" altLang="ko-KR" sz="3200" b="1" dirty="0"/>
              <a:t>!</a:t>
            </a:r>
            <a:br>
              <a:rPr lang="en-US" altLang="ko-KR" sz="3200" b="1" dirty="0"/>
            </a:b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3539291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F2763-9C46-7DB1-6C9C-270C84E67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78BE4524-CD66-D862-1B98-7A25C121622C}"/>
              </a:ext>
            </a:extLst>
          </p:cNvPr>
          <p:cNvSpPr txBox="1">
            <a:spLocks/>
          </p:cNvSpPr>
          <p:nvPr/>
        </p:nvSpPr>
        <p:spPr>
          <a:xfrm>
            <a:off x="4670425" y="3048000"/>
            <a:ext cx="285115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3200" b="1"/>
              <a:t>감사합니다</a:t>
            </a:r>
            <a:br>
              <a:rPr lang="en-US" altLang="ko-KR" sz="3200" b="1" dirty="0"/>
            </a:b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630988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2147483647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2147483647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2147483647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2147483647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731</Words>
  <Application>Microsoft Office PowerPoint</Application>
  <PresentationFormat>와이드스크린</PresentationFormat>
  <Paragraphs>193</Paragraphs>
  <Slides>19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3" baseType="lpstr">
      <vt:lpstr>맑은 고딕</vt:lpstr>
      <vt:lpstr>Arial</vt:lpstr>
      <vt:lpstr>Wingdings</vt:lpstr>
      <vt:lpstr>Office 테마</vt:lpstr>
      <vt:lpstr>Infection : City of Death  감염 : 죽음의 도시</vt:lpstr>
      <vt:lpstr>ㅣ 목차</vt:lpstr>
      <vt:lpstr>ㅣ01 게임 소개 – 기본 설명 </vt:lpstr>
      <vt:lpstr>PowerPoint 프레젠테이션</vt:lpstr>
      <vt:lpstr>ㅣ01 게임 소개 - 플레이 흐름 </vt:lpstr>
      <vt:lpstr>ㅣ01 게임 소개 – 게임 조작 </vt:lpstr>
      <vt:lpstr>ㅣ02 구성원 역할 </vt:lpstr>
      <vt:lpstr>ㅣ03 기술 요소/중점연구 분야 </vt:lpstr>
      <vt:lpstr>ㅣ04 개발 내용- 1스테이지 </vt:lpstr>
      <vt:lpstr>ㅣ04 개발 내용- 2스테이지 </vt:lpstr>
      <vt:lpstr>- 레그돌 효과 : 좀비 피격 시 해당 위치의 분리</vt:lpstr>
      <vt:lpstr>- 나이아가라 사용한 이펙트 : 트럭 파손 연기 &amp; 매연 &amp; 출혈</vt:lpstr>
      <vt:lpstr>- 메인 쓰레드 + 워커 쓰레드 5개를 이용한 멀티쓰레드</vt:lpstr>
      <vt:lpstr>- UI 제작</vt:lpstr>
      <vt:lpstr>ㅣ05 문제점 및 보완책 </vt:lpstr>
      <vt:lpstr>ㅣ06 현재 개발 진행도 </vt:lpstr>
      <vt:lpstr>ㅣ06 향후 개발 일정 </vt:lpstr>
      <vt:lpstr>ㅣ07 데모 시연 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배주환(2021184015)</dc:creator>
  <cp:lastModifiedBy>배주환(2021184015)</cp:lastModifiedBy>
  <cp:revision>55</cp:revision>
  <dcterms:created xsi:type="dcterms:W3CDTF">2025-12-20T14:57:21Z</dcterms:created>
  <dcterms:modified xsi:type="dcterms:W3CDTF">2026-05-09T13:56:51Z</dcterms:modified>
  <cp:version>1000.0000.01</cp:version>
</cp:coreProperties>
</file>