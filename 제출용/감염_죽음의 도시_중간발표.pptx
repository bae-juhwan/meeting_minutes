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72" r:id="rId3"/>
    <p:sldId id="273" r:id="rId4"/>
    <p:sldId id="277" r:id="rId5"/>
    <p:sldId id="259" r:id="rId6"/>
    <p:sldId id="262" r:id="rId7"/>
    <p:sldId id="267" r:id="rId8"/>
    <p:sldId id="286" r:id="rId9"/>
    <p:sldId id="268" r:id="rId10"/>
    <p:sldId id="269" r:id="rId11"/>
    <p:sldId id="270" r:id="rId12"/>
    <p:sldId id="285" r:id="rId13"/>
    <p:sldId id="281" r:id="rId14"/>
    <p:sldId id="282" r:id="rId1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45E539-6FD5-4AFF-B677-869B5A677D1E}" type="datetimeFigureOut">
              <a:rPr lang="ko-KR" altLang="en-US" smtClean="0"/>
              <a:t>2026-05-04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B3AD288-C5DB-467C-8F75-E9312FADA2B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68864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B3AD288-C5DB-467C-8F75-E9312FADA2B4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7066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B3AD288-C5DB-467C-8F75-E9312FADA2B4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59754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B3AD288-C5DB-467C-8F75-E9312FADA2B4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37126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D52C9E-B0D3-6D6C-DCB3-9F96451ECE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457AE71-6DC4-6233-8CDA-C64206A945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CFED914-EF26-2256-FF62-703D9CDF77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1279A-2D0F-4B89-AFB8-7F24464C1E08}" type="datetimeFigureOut">
              <a:rPr lang="ko-KR" altLang="en-US" smtClean="0"/>
              <a:t>2026-05-04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7BEE5C2-0003-4CC4-5DCA-416BCB0351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24C3195-01EB-B5E0-606D-9776277D6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3B06C6-D588-4E80-A2CB-3AC70DB3350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213075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D118D3-7A37-7D1E-7663-240170EFA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EEB4506-F4C9-B2F0-E7C2-936372664D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D19CC10-54E4-AB1C-1FA5-F93810F442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1279A-2D0F-4B89-AFB8-7F24464C1E08}" type="datetimeFigureOut">
              <a:rPr lang="ko-KR" altLang="en-US" smtClean="0"/>
              <a:t>2026-05-04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35F0543-A85E-0E4C-2DFE-116E1D57C8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A3CBEA5-0EE4-506F-91E4-5BAC06A64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3B06C6-D588-4E80-A2CB-3AC70DB3350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06613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64A624-EDD8-FAB3-C08D-911F1C21B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B064114-2BFA-DA05-9A5D-E7B6DFC21F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9E80575-88A4-E959-616E-8599450D36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1279A-2D0F-4B89-AFB8-7F24464C1E08}" type="datetimeFigureOut">
              <a:rPr lang="ko-KR" altLang="en-US" smtClean="0"/>
              <a:t>2026-05-04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5B3359-8547-3A32-062C-4C928F95A2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3A4711F-D581-4E1F-6BA2-1A2AC9FFD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3B06C6-D588-4E80-A2CB-3AC70DB3350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7362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0AA13E-5BF6-47BA-EEFD-65C7AA312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22FE5CB-3B1B-83CA-AA46-CA9FB9B694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50CED2E-8E64-09C1-E041-A85491B0F8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CCFC55F-6B01-C5FF-D575-DE24AA7FA1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1279A-2D0F-4B89-AFB8-7F24464C1E08}" type="datetimeFigureOut">
              <a:rPr lang="ko-KR" altLang="en-US" smtClean="0"/>
              <a:t>2026-05-04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A52FE91-5F8F-1F29-5F4F-634E71E783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846E984-2373-B7B4-83B1-C543AE4985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3B06C6-D588-4E80-A2CB-3AC70DB3350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9015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74BB95-15A6-4980-4E05-D0E2B3D7A0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89F9003-FED9-F21A-D8D4-1699D59A97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E3D8C63-F147-54B4-1C14-198DAF4255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8A850D5-587E-E0CE-6F87-2A59BA855C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00F82BC4-E8A8-2A85-1DAB-F515A1C909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80C6C53-F3D0-8158-0EA8-D84B36A930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1279A-2D0F-4B89-AFB8-7F24464C1E08}" type="datetimeFigureOut">
              <a:rPr lang="ko-KR" altLang="en-US" smtClean="0"/>
              <a:t>2026-05-04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79972AA-E09F-223D-C41A-4BDC0237F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09742504-1423-F788-9552-D65FF8FFF3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3B06C6-D588-4E80-A2CB-3AC70DB3350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4072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F66D99-F850-EE99-4A0F-BBAA9CD4D3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EBB02A6-C901-F334-0D8D-7DBA7AFAB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1279A-2D0F-4B89-AFB8-7F24464C1E08}" type="datetimeFigureOut">
              <a:rPr lang="ko-KR" altLang="en-US" smtClean="0"/>
              <a:t>2026-05-04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672F973-47D5-04F8-5718-87FB017EA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01928D5-9A6C-F840-B7F6-1587F37394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3B06C6-D588-4E80-A2CB-3AC70DB3350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57211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29633B9-1343-FD65-81D8-C49074E610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1279A-2D0F-4B89-AFB8-7F24464C1E08}" type="datetimeFigureOut">
              <a:rPr lang="ko-KR" altLang="en-US" smtClean="0"/>
              <a:t>2026-05-04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2C75721-FDD2-B0C6-49C3-429841FE7B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751132-59F7-1ECA-034F-1FCCD4F6D9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3B06C6-D588-4E80-A2CB-3AC70DB3350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2622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1919C3-839F-8A7F-2E42-1C7138DE0F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5844844-4A86-1905-4B17-CC59E48EC4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15132A5-32BF-6E72-75CB-D9FC0EB985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C15555E-9974-5AE4-1BBA-6C48C4EDB1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1279A-2D0F-4B89-AFB8-7F24464C1E08}" type="datetimeFigureOut">
              <a:rPr lang="ko-KR" altLang="en-US" smtClean="0"/>
              <a:t>2026-05-04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36315F6-CBE8-BBF3-03DA-F99CE5B1AF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966C6FB-77E4-49FC-DEEC-F54156734F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3B06C6-D588-4E80-A2CB-3AC70DB3350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37996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38C9F7-077C-5DFB-E904-330429CB0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5665232-6E8C-77DF-15A4-D11FE666A0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16190FB-8D6B-5229-6DC4-BE9F7F6589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CE87E98-2182-39D0-BF82-32AF470E56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1279A-2D0F-4B89-AFB8-7F24464C1E08}" type="datetimeFigureOut">
              <a:rPr lang="ko-KR" altLang="en-US" smtClean="0"/>
              <a:t>2026-05-04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E578AE6-23B9-2F48-5EF2-9D8C85331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5D46E63-2460-1377-733F-88A077490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3B06C6-D588-4E80-A2CB-3AC70DB3350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5387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DD7C31-AFD7-4A5F-8D90-BFA666C8B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54B6D4E-298F-64A2-9C51-265C6BE3F7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86FADAE-FB20-E670-9AEC-9CF4D6033A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1279A-2D0F-4B89-AFB8-7F24464C1E08}" type="datetimeFigureOut">
              <a:rPr lang="ko-KR" altLang="en-US" smtClean="0"/>
              <a:t>2026-05-04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9FC19B9-3AA4-A5B9-82C2-4864BD7C54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187B46-62B0-5103-2CC8-3D22F3C65A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3B06C6-D588-4E80-A2CB-3AC70DB3350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9851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8228784-F8A4-F0D1-11C3-AC920A0BAB7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617362A-171F-5147-3C6F-A11EA2E796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78E57E5-2EC1-862E-51AC-F99EA78832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1279A-2D0F-4B89-AFB8-7F24464C1E08}" type="datetimeFigureOut">
              <a:rPr lang="ko-KR" altLang="en-US" smtClean="0"/>
              <a:t>2026-05-04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10665DB-0B7D-4BC9-591A-B0F4414A2A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0847B17-F075-1F98-56AC-10C031F289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3B06C6-D588-4E80-A2CB-3AC70DB3350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69966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C3EF577-FE75-0327-2E85-3B0FA42BCF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749C4E9-D128-20A5-658E-807223059F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27EADB2-AB65-DBD0-1E2F-08ACD3704A1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A1279A-2D0F-4B89-AFB8-7F24464C1E08}" type="datetimeFigureOut">
              <a:rPr lang="ko-KR" altLang="en-US" smtClean="0"/>
              <a:t>2026-05-04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E3D2002-1229-E194-465C-005EE3F9C2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6BEE562-3823-9922-AB6B-D91F046B3E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3B06C6-D588-4E80-A2CB-3AC70DB3350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92879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9" name="Rectangle 3078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74" name="Picture 2" descr="좀비 게임 : Mad Zombie PC 버전 다운로드 - LD플레이어">
            <a:extLst>
              <a:ext uri="{FF2B5EF4-FFF2-40B4-BE49-F238E27FC236}">
                <a16:creationId xmlns:a16="http://schemas.microsoft.com/office/drawing/2014/main" id="{F550C6BC-1087-7C28-6548-3985AE0724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000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E3E88D9E-0B31-6879-5E81-7EE5FA1AC3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127760" y="2268186"/>
            <a:ext cx="13700760" cy="1828801"/>
          </a:xfrm>
          <a:solidFill>
            <a:schemeClr val="bg1">
              <a:lumMod val="65000"/>
              <a:lumOff val="35000"/>
              <a:alpha val="53000"/>
            </a:schemeClr>
          </a:solidFill>
        </p:spPr>
        <p:txBody>
          <a:bodyPr>
            <a:normAutofit/>
          </a:bodyPr>
          <a:lstStyle/>
          <a:p>
            <a:r>
              <a:rPr lang="en-US" altLang="ko-KR" b="1" dirty="0"/>
              <a:t>Infection : City of Death </a:t>
            </a:r>
            <a:br>
              <a:rPr lang="en-US" altLang="ko-KR" b="1" dirty="0"/>
            </a:br>
            <a:r>
              <a:rPr lang="ko-KR" altLang="en-US" sz="4000" b="1" i="1" dirty="0"/>
              <a:t>감염 </a:t>
            </a:r>
            <a:r>
              <a:rPr lang="en-US" altLang="ko-KR" sz="4000" b="1" i="1" dirty="0"/>
              <a:t>: </a:t>
            </a:r>
            <a:r>
              <a:rPr lang="ko-KR" altLang="en-US" sz="4000" b="1" i="1" dirty="0"/>
              <a:t>죽음의 도시</a:t>
            </a:r>
            <a:endParaRPr lang="ko-KR" altLang="en-US" i="1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8EEF565-BD09-7E94-31C6-4E08EEB81D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38931" y="5382563"/>
            <a:ext cx="4948052" cy="1098395"/>
          </a:xfrm>
        </p:spPr>
        <p:txBody>
          <a:bodyPr>
            <a:normAutofit/>
          </a:bodyPr>
          <a:lstStyle/>
          <a:p>
            <a:r>
              <a:rPr lang="en-US" altLang="ko-KR" sz="1700" b="1" dirty="0">
                <a:solidFill>
                  <a:srgbClr val="FFFFFF"/>
                </a:solidFill>
              </a:rPr>
              <a:t>2021182014 </a:t>
            </a:r>
            <a:r>
              <a:rPr lang="ko-KR" altLang="en-US" sz="1700" b="1" dirty="0" err="1">
                <a:solidFill>
                  <a:srgbClr val="FFFFFF"/>
                </a:solidFill>
              </a:rPr>
              <a:t>박신우</a:t>
            </a:r>
            <a:endParaRPr lang="en-US" altLang="ko-KR" sz="1700" b="1" dirty="0">
              <a:solidFill>
                <a:srgbClr val="FFFFFF"/>
              </a:solidFill>
            </a:endParaRPr>
          </a:p>
          <a:p>
            <a:r>
              <a:rPr lang="en-US" altLang="ko-KR" sz="1700" b="1" dirty="0">
                <a:solidFill>
                  <a:srgbClr val="FFFFFF"/>
                </a:solidFill>
              </a:rPr>
              <a:t>2023182021 </a:t>
            </a:r>
            <a:r>
              <a:rPr lang="ko-KR" altLang="en-US" sz="1700" b="1" dirty="0">
                <a:solidFill>
                  <a:srgbClr val="FFFFFF"/>
                </a:solidFill>
              </a:rPr>
              <a:t>안윤진</a:t>
            </a:r>
            <a:endParaRPr lang="en-US" altLang="ko-KR" sz="1700" b="1" dirty="0">
              <a:solidFill>
                <a:srgbClr val="FFFFFF"/>
              </a:solidFill>
            </a:endParaRPr>
          </a:p>
          <a:p>
            <a:r>
              <a:rPr lang="en-US" altLang="ko-KR" sz="1700" b="1" dirty="0">
                <a:solidFill>
                  <a:srgbClr val="FFFFFF"/>
                </a:solidFill>
              </a:rPr>
              <a:t>2021184015 </a:t>
            </a:r>
            <a:r>
              <a:rPr lang="ko-KR" altLang="en-US" sz="1700" b="1" dirty="0" err="1">
                <a:solidFill>
                  <a:srgbClr val="FFFFFF"/>
                </a:solidFill>
              </a:rPr>
              <a:t>배주환</a:t>
            </a:r>
            <a:endParaRPr lang="ko-KR" altLang="en-US" sz="1700" b="1" dirty="0">
              <a:solidFill>
                <a:srgbClr val="FFFFFF"/>
              </a:solidFill>
            </a:endParaRP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819ACF64-6486-6A44-DFF1-23B03E0FE921}"/>
              </a:ext>
            </a:extLst>
          </p:cNvPr>
          <p:cNvSpPr txBox="1">
            <a:spLocks/>
          </p:cNvSpPr>
          <p:nvPr/>
        </p:nvSpPr>
        <p:spPr>
          <a:xfrm>
            <a:off x="1524000" y="513492"/>
            <a:ext cx="9144000" cy="72751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2400" b="1" i="1" u="sng" dirty="0"/>
              <a:t>중간발표</a:t>
            </a:r>
          </a:p>
        </p:txBody>
      </p:sp>
    </p:spTree>
    <p:extLst>
      <p:ext uri="{BB962C8B-B14F-4D97-AF65-F5344CB8AC3E}">
        <p14:creationId xmlns:p14="http://schemas.microsoft.com/office/powerpoint/2010/main" val="31216139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9228552E-C8B1-4A80-8448-0787CE0FC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2" descr="좀비 게임 : Mad Zombie PC 버전 다운로드 - LD플레이어">
            <a:extLst>
              <a:ext uri="{FF2B5EF4-FFF2-40B4-BE49-F238E27FC236}">
                <a16:creationId xmlns:a16="http://schemas.microsoft.com/office/drawing/2014/main" id="{3D8754F3-956D-261A-E7F6-190EC1024D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000"/>
          <a:stretch>
            <a:fillRect/>
          </a:stretch>
        </p:blipFill>
        <p:spPr bwMode="auto">
          <a:xfrm>
            <a:off x="20" y="10"/>
            <a:ext cx="12191980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3176AAC-364E-04CD-50E3-F3BD125A2E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ko-KR" altLang="en-US" sz="3600" b="1" dirty="0" err="1">
                <a:solidFill>
                  <a:srgbClr val="FFFFFF"/>
                </a:solidFill>
              </a:rPr>
              <a:t>ㅣ</a:t>
            </a:r>
            <a:r>
              <a:rPr lang="ko-KR" altLang="en-US" sz="3600" b="1" dirty="0">
                <a:solidFill>
                  <a:srgbClr val="FFFFFF"/>
                </a:solidFill>
              </a:rPr>
              <a:t> 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7B25246-5FEF-36E8-E6B0-F88B153CFF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67000" y="1889125"/>
            <a:ext cx="6718300" cy="4351338"/>
          </a:xfrm>
        </p:spPr>
        <p:txBody>
          <a:bodyPr anchor="ctr">
            <a:normAutofit fontScale="92500"/>
          </a:bodyPr>
          <a:lstStyle/>
          <a:p>
            <a:pPr marL="457200" indent="-457200">
              <a:lnSpc>
                <a:spcPct val="150000"/>
              </a:lnSpc>
              <a:buAutoNum type="arabicPeriod"/>
            </a:pPr>
            <a:r>
              <a:rPr lang="ko-KR" altLang="en-US" sz="2400" b="1" dirty="0">
                <a:solidFill>
                  <a:srgbClr val="FFFFFF"/>
                </a:solidFill>
              </a:rPr>
              <a:t>게임 소개</a:t>
            </a:r>
            <a:endParaRPr lang="en-US" altLang="ko-KR" sz="2400" b="1" dirty="0">
              <a:solidFill>
                <a:srgbClr val="FFFFFF"/>
              </a:solidFill>
            </a:endParaRP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ko-KR" altLang="en-US" sz="2400" b="1" dirty="0">
                <a:solidFill>
                  <a:srgbClr val="FFFFFF"/>
                </a:solidFill>
              </a:rPr>
              <a:t>구성원 역할</a:t>
            </a:r>
            <a:endParaRPr lang="en-US" altLang="ko-KR" sz="2400" b="1" dirty="0">
              <a:solidFill>
                <a:srgbClr val="FFFFFF"/>
              </a:solidFill>
            </a:endParaRP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ko-KR" altLang="en-US" sz="2400" b="1" dirty="0">
                <a:solidFill>
                  <a:srgbClr val="FFFFFF"/>
                </a:solidFill>
              </a:rPr>
              <a:t>기술 요소</a:t>
            </a:r>
            <a:r>
              <a:rPr lang="en-US" altLang="ko-KR" sz="2400" b="1" dirty="0">
                <a:solidFill>
                  <a:srgbClr val="FFFFFF"/>
                </a:solidFill>
              </a:rPr>
              <a:t>/</a:t>
            </a:r>
            <a:r>
              <a:rPr lang="ko-KR" altLang="en-US" sz="2400" b="1" dirty="0">
                <a:solidFill>
                  <a:srgbClr val="FFFFFF"/>
                </a:solidFill>
              </a:rPr>
              <a:t>중점 연구분야</a:t>
            </a:r>
            <a:endParaRPr lang="en-US" altLang="ko-KR" sz="2400" b="1" dirty="0">
              <a:solidFill>
                <a:srgbClr val="FFFFFF"/>
              </a:solidFill>
            </a:endParaRP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ko-KR" altLang="en-US" sz="2400" b="1" dirty="0">
                <a:solidFill>
                  <a:srgbClr val="FFFFFF"/>
                </a:solidFill>
              </a:rPr>
              <a:t>개발 내용</a:t>
            </a:r>
            <a:endParaRPr lang="en-US" altLang="ko-KR" sz="2400" b="1" dirty="0">
              <a:solidFill>
                <a:srgbClr val="FFFFFF"/>
              </a:solidFill>
            </a:endParaRP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ko-KR" altLang="en-US" sz="2400" b="1" dirty="0">
                <a:solidFill>
                  <a:srgbClr val="FFFFFF"/>
                </a:solidFill>
              </a:rPr>
              <a:t>문제점 및 보안책</a:t>
            </a:r>
            <a:endParaRPr lang="en-US" altLang="ko-KR" sz="2400" b="1" dirty="0">
              <a:solidFill>
                <a:srgbClr val="FFFFFF"/>
              </a:solidFill>
            </a:endParaRP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ko-KR" altLang="en-US" sz="2400" b="1" dirty="0">
                <a:solidFill>
                  <a:srgbClr val="FFFFFF"/>
                </a:solidFill>
              </a:rPr>
              <a:t>향후 개발 일정</a:t>
            </a:r>
            <a:endParaRPr lang="en-US" altLang="ko-KR" sz="2400" b="1" dirty="0">
              <a:solidFill>
                <a:srgbClr val="FFFFFF"/>
              </a:solidFill>
            </a:endParaRP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ko-KR" altLang="en-US" sz="2400" b="1" dirty="0">
                <a:solidFill>
                  <a:srgbClr val="FFFFFF"/>
                </a:solidFill>
              </a:rPr>
              <a:t>데모 시연</a:t>
            </a:r>
            <a:endParaRPr lang="en-US" altLang="ko-KR" sz="2000" b="1" dirty="0">
              <a:solidFill>
                <a:srgbClr val="FFFFFF"/>
              </a:solidFill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F99582A2-1E75-CEC4-6351-F2BF967FCD1E}"/>
              </a:ext>
            </a:extLst>
          </p:cNvPr>
          <p:cNvSpPr txBox="1">
            <a:spLocks/>
          </p:cNvSpPr>
          <p:nvPr/>
        </p:nvSpPr>
        <p:spPr>
          <a:xfrm>
            <a:off x="6921500" y="1889125"/>
            <a:ext cx="5575300" cy="43513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endParaRPr lang="en-US" altLang="ko-KR" sz="2400" b="1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550705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2" name="Rectangle 2061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2" name="Picture 4" descr="레포데2, 무료배포에 스팀 사이트 다운…어떤 게임이기에? - 머니투데이">
            <a:extLst>
              <a:ext uri="{FF2B5EF4-FFF2-40B4-BE49-F238E27FC236}">
                <a16:creationId xmlns:a16="http://schemas.microsoft.com/office/drawing/2014/main" id="{EF149B1C-F124-0192-1963-D2F1C3FC61C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64" b="5636"/>
          <a:stretch>
            <a:fillRect/>
          </a:stretch>
        </p:blipFill>
        <p:spPr bwMode="auto">
          <a:xfrm>
            <a:off x="20" y="-66676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타원 4">
            <a:extLst>
              <a:ext uri="{FF2B5EF4-FFF2-40B4-BE49-F238E27FC236}">
                <a16:creationId xmlns:a16="http://schemas.microsoft.com/office/drawing/2014/main" id="{88C89823-53E2-3892-A253-87D1C92FA4AB}"/>
              </a:ext>
            </a:extLst>
          </p:cNvPr>
          <p:cNvSpPr/>
          <p:nvPr/>
        </p:nvSpPr>
        <p:spPr>
          <a:xfrm>
            <a:off x="-2552701" y="-1381922"/>
            <a:ext cx="12191979" cy="10012680"/>
          </a:xfrm>
          <a:prstGeom prst="ellipse">
            <a:avLst/>
          </a:prstGeom>
          <a:solidFill>
            <a:schemeClr val="dk1">
              <a:alpha val="41000"/>
            </a:schemeClr>
          </a:solidFill>
          <a:ln>
            <a:noFill/>
          </a:ln>
          <a:effectLst>
            <a:softEdge rad="622300"/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55F1BBF-783F-C618-DB88-5A77B549DD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9381" y="2121498"/>
            <a:ext cx="5759059" cy="3742762"/>
          </a:xfrm>
        </p:spPr>
        <p:txBody>
          <a:bodyPr>
            <a:normAutofit/>
          </a:bodyPr>
          <a:lstStyle/>
          <a:p>
            <a:r>
              <a:rPr lang="ko-KR" altLang="en-US" sz="2400" b="1" dirty="0"/>
              <a:t>이름</a:t>
            </a:r>
            <a:r>
              <a:rPr lang="ko-KR" altLang="en-US" sz="2400" dirty="0"/>
              <a:t> </a:t>
            </a:r>
            <a:r>
              <a:rPr lang="en-US" altLang="ko-KR" sz="2400" dirty="0"/>
              <a:t>:	</a:t>
            </a:r>
            <a:r>
              <a:rPr lang="en-US" altLang="ko-KR" sz="2400" b="1" i="1" dirty="0"/>
              <a:t>Infection : City of Death </a:t>
            </a:r>
          </a:p>
          <a:p>
            <a:pPr marL="0" indent="0">
              <a:buNone/>
            </a:pPr>
            <a:r>
              <a:rPr lang="en-US" altLang="ko-KR" sz="2400" b="1" i="1" dirty="0"/>
              <a:t>		(</a:t>
            </a:r>
            <a:r>
              <a:rPr lang="ko-KR" altLang="en-US" sz="2400" b="1" i="1" dirty="0"/>
              <a:t>감염 </a:t>
            </a:r>
            <a:r>
              <a:rPr lang="en-US" altLang="ko-KR" sz="2400" b="1" i="1" dirty="0"/>
              <a:t>: </a:t>
            </a:r>
            <a:r>
              <a:rPr lang="ko-KR" altLang="en-US" sz="2400" b="1" i="1" dirty="0"/>
              <a:t>죽음의 도시</a:t>
            </a:r>
            <a:r>
              <a:rPr lang="en-US" altLang="ko-KR" sz="2400" b="1" i="1" dirty="0"/>
              <a:t>)</a:t>
            </a:r>
          </a:p>
          <a:p>
            <a:endParaRPr lang="en-US" altLang="ko-KR" sz="2400" b="1" dirty="0"/>
          </a:p>
          <a:p>
            <a:r>
              <a:rPr lang="ko-KR" altLang="en-US" sz="2400" b="1" dirty="0"/>
              <a:t>인원 </a:t>
            </a:r>
            <a:r>
              <a:rPr lang="en-US" altLang="ko-KR" sz="2400" b="1" dirty="0"/>
              <a:t>:  	</a:t>
            </a:r>
            <a:r>
              <a:rPr lang="en-US" altLang="ko-KR" sz="2400" b="1" i="1" u="sng" dirty="0"/>
              <a:t>3</a:t>
            </a:r>
            <a:r>
              <a:rPr lang="ko-KR" altLang="en-US" sz="2400" b="1" i="1" u="sng" dirty="0"/>
              <a:t>인  고정 </a:t>
            </a:r>
            <a:r>
              <a:rPr lang="ko-KR" altLang="en-US" sz="2400" b="1" i="1" dirty="0"/>
              <a:t>플레이</a:t>
            </a:r>
            <a:endParaRPr lang="en-US" altLang="ko-KR" sz="2400" b="1" i="1" dirty="0"/>
          </a:p>
          <a:p>
            <a:endParaRPr lang="en-US" altLang="ko-KR" sz="2400" b="1" dirty="0"/>
          </a:p>
          <a:p>
            <a:r>
              <a:rPr lang="ko-KR" altLang="en-US" sz="2400" b="1" dirty="0"/>
              <a:t>장르 </a:t>
            </a:r>
            <a:r>
              <a:rPr lang="en-US" altLang="ko-KR" sz="2400" b="1" dirty="0"/>
              <a:t>: 	#</a:t>
            </a:r>
            <a:r>
              <a:rPr lang="en-US" altLang="ko-KR" sz="2600" b="1" i="1" dirty="0"/>
              <a:t>TPS(1,3</a:t>
            </a:r>
            <a:r>
              <a:rPr lang="ko-KR" altLang="en-US" sz="2600" b="1" i="1" dirty="0"/>
              <a:t>인칭 슈팅 게임</a:t>
            </a:r>
            <a:r>
              <a:rPr lang="en-US" altLang="ko-KR" sz="2600" b="1" i="1" dirty="0"/>
              <a:t>) </a:t>
            </a:r>
          </a:p>
          <a:p>
            <a:pPr marL="0" indent="0">
              <a:buNone/>
            </a:pPr>
            <a:r>
              <a:rPr lang="en-US" altLang="ko-KR" sz="2600" b="1" i="1" dirty="0"/>
              <a:t>		#</a:t>
            </a:r>
            <a:r>
              <a:rPr lang="ko-KR" altLang="en-US" sz="2600" b="1" i="1" dirty="0"/>
              <a:t>디펜스 </a:t>
            </a:r>
            <a:r>
              <a:rPr lang="en-US" altLang="ko-KR" sz="2600" b="1" i="1" dirty="0"/>
              <a:t> #</a:t>
            </a:r>
            <a:r>
              <a:rPr lang="ko-KR" altLang="en-US" sz="2600" b="1" i="1" dirty="0"/>
              <a:t>좀비 </a:t>
            </a:r>
            <a:r>
              <a:rPr lang="en-US" altLang="ko-KR" sz="2600" b="1" i="1" dirty="0"/>
              <a:t> #</a:t>
            </a:r>
            <a:r>
              <a:rPr lang="ko-KR" altLang="en-US" sz="2600" b="1" i="1" dirty="0"/>
              <a:t>협동</a:t>
            </a:r>
            <a:endParaRPr lang="en-US" altLang="ko-KR" sz="2600" b="1" i="1" dirty="0"/>
          </a:p>
          <a:p>
            <a:endParaRPr lang="ko-KR" altLang="en-US" sz="2000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AFED6A68-DF8A-B48B-0093-43D8572FB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3200" b="1" dirty="0" err="1"/>
              <a:t>ㅣ</a:t>
            </a:r>
            <a:r>
              <a:rPr lang="en-US" altLang="ko-KR" sz="3200" b="1" dirty="0"/>
              <a:t>01</a:t>
            </a:r>
            <a:r>
              <a:rPr lang="ko-KR" altLang="en-US" sz="3200" b="1" dirty="0"/>
              <a:t> 게임 소개 </a:t>
            </a:r>
            <a:r>
              <a:rPr lang="en-US" altLang="ko-KR" sz="2400" b="1" dirty="0"/>
              <a:t>– </a:t>
            </a:r>
            <a:r>
              <a:rPr lang="ko-KR" altLang="en-US" sz="2400" b="1" dirty="0"/>
              <a:t>기본 설명</a:t>
            </a:r>
            <a:br>
              <a:rPr lang="en-US" altLang="ko-KR" sz="2800" b="1" dirty="0"/>
            </a:br>
            <a:endParaRPr lang="ko-KR" altLang="en-US" sz="3600" b="1" dirty="0"/>
          </a:p>
        </p:txBody>
      </p:sp>
    </p:spTree>
    <p:extLst>
      <p:ext uri="{BB962C8B-B14F-4D97-AF65-F5344CB8AC3E}">
        <p14:creationId xmlns:p14="http://schemas.microsoft.com/office/powerpoint/2010/main" val="11360526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9AF970-29F6-1E64-BAD8-633123285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2" name="Rectangle 2061">
            <a:extLst>
              <a:ext uri="{FF2B5EF4-FFF2-40B4-BE49-F238E27FC236}">
                <a16:creationId xmlns:a16="http://schemas.microsoft.com/office/drawing/2014/main" id="{F251A801-BB64-8408-7552-04123F976E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2" name="Picture 4" descr="레포데2, 무료배포에 스팀 사이트 다운…어떤 게임이기에? - 머니투데이">
            <a:extLst>
              <a:ext uri="{FF2B5EF4-FFF2-40B4-BE49-F238E27FC236}">
                <a16:creationId xmlns:a16="http://schemas.microsoft.com/office/drawing/2014/main" id="{47498F8B-E21F-5B32-09B0-D6F162D84D9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64" b="5636"/>
          <a:stretch>
            <a:fillRect/>
          </a:stretch>
        </p:blipFill>
        <p:spPr bwMode="auto">
          <a:xfrm>
            <a:off x="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타원 4">
            <a:extLst>
              <a:ext uri="{FF2B5EF4-FFF2-40B4-BE49-F238E27FC236}">
                <a16:creationId xmlns:a16="http://schemas.microsoft.com/office/drawing/2014/main" id="{2DC0F5C3-B6F7-0597-BFA6-B87A6D9CD32C}"/>
              </a:ext>
            </a:extLst>
          </p:cNvPr>
          <p:cNvSpPr/>
          <p:nvPr/>
        </p:nvSpPr>
        <p:spPr>
          <a:xfrm>
            <a:off x="250619" y="563880"/>
            <a:ext cx="11690742" cy="6294119"/>
          </a:xfrm>
          <a:prstGeom prst="ellipse">
            <a:avLst/>
          </a:prstGeom>
          <a:solidFill>
            <a:schemeClr val="dk1">
              <a:alpha val="60000"/>
            </a:schemeClr>
          </a:solidFill>
          <a:ln>
            <a:noFill/>
          </a:ln>
          <a:effectLst>
            <a:softEdge rad="622300"/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401A15DA-FB3C-E77C-B31A-5602B063E249}"/>
              </a:ext>
            </a:extLst>
          </p:cNvPr>
          <p:cNvSpPr txBox="1">
            <a:spLocks/>
          </p:cNvSpPr>
          <p:nvPr/>
        </p:nvSpPr>
        <p:spPr>
          <a:xfrm>
            <a:off x="1584042" y="2410777"/>
            <a:ext cx="8337198" cy="47417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800" i="1" dirty="0"/>
              <a:t>좀비 바이러스가 창궐하는 </a:t>
            </a:r>
            <a:r>
              <a:rPr lang="ko-KR" altLang="en-US" sz="1800" i="1" dirty="0" err="1"/>
              <a:t>아포칼립스</a:t>
            </a:r>
            <a:r>
              <a:rPr lang="ko-KR" altLang="en-US" sz="1800" i="1" dirty="0"/>
              <a:t> 세계관 속</a:t>
            </a:r>
            <a:r>
              <a:rPr lang="en-US" altLang="ko-KR" sz="1800" i="1" dirty="0"/>
              <a:t>.. </a:t>
            </a:r>
          </a:p>
          <a:p>
            <a:pPr marL="0" indent="0" algn="ctr">
              <a:buNone/>
            </a:pPr>
            <a:r>
              <a:rPr lang="ko-KR" altLang="en-US" sz="1800" i="1" dirty="0"/>
              <a:t>이미 감염된 도시를 탈출하기 위해 </a:t>
            </a:r>
            <a:r>
              <a:rPr lang="en-US" altLang="ko-KR" sz="1800" i="1" dirty="0"/>
              <a:t>3</a:t>
            </a:r>
            <a:r>
              <a:rPr lang="ko-KR" altLang="en-US" sz="1800" i="1" dirty="0"/>
              <a:t>명이 모였다</a:t>
            </a:r>
            <a:r>
              <a:rPr lang="en-US" altLang="ko-KR" sz="1800" i="1" dirty="0"/>
              <a:t>. </a:t>
            </a:r>
          </a:p>
          <a:p>
            <a:pPr marL="0" indent="0" algn="ctr">
              <a:buNone/>
            </a:pPr>
            <a:r>
              <a:rPr lang="ko-KR" altLang="en-US" sz="1800" i="1" dirty="0"/>
              <a:t>탈출할 방법은 오직 </a:t>
            </a:r>
            <a:r>
              <a:rPr lang="ko-KR" altLang="en-US" sz="1800" b="1" i="1" dirty="0"/>
              <a:t>다리를 건너 도시를 탈출하는 방법 뿐</a:t>
            </a:r>
            <a:r>
              <a:rPr lang="en-US" altLang="ko-KR" sz="1800" b="1" i="1" dirty="0"/>
              <a:t>..! </a:t>
            </a:r>
          </a:p>
          <a:p>
            <a:pPr marL="0" indent="0" algn="ctr">
              <a:buNone/>
            </a:pPr>
            <a:r>
              <a:rPr lang="ko-KR" altLang="en-US" sz="1800" b="1" i="1" dirty="0"/>
              <a:t>한 대 남은 트럭</a:t>
            </a:r>
            <a:r>
              <a:rPr lang="ko-KR" altLang="en-US" sz="1800" i="1" dirty="0"/>
              <a:t>에 필요한 것들을 챙겨 빠른 시간안에 탈출해야 한다</a:t>
            </a:r>
            <a:r>
              <a:rPr lang="en-US" altLang="ko-KR" sz="1800" i="1" dirty="0"/>
              <a:t>. </a:t>
            </a:r>
          </a:p>
          <a:p>
            <a:pPr marL="0" indent="0" algn="ctr">
              <a:buNone/>
            </a:pPr>
            <a:endParaRPr lang="en-US" altLang="ko-KR" sz="1800" i="1" dirty="0"/>
          </a:p>
          <a:p>
            <a:pPr marL="0" indent="0" algn="ctr">
              <a:buNone/>
            </a:pPr>
            <a:r>
              <a:rPr lang="ko-KR" altLang="en-US" sz="2000" b="1" i="1" u="sng" dirty="0"/>
              <a:t>쫓아오는 좀비와 전투하며 목표 지점까지 도달하라</a:t>
            </a:r>
            <a:r>
              <a:rPr lang="en-US" altLang="ko-KR" sz="2000" b="1" i="1" u="sng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729778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9710ABF4-CD11-70F4-056B-128BF39B29D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26584877"/>
              </p:ext>
            </p:extLst>
          </p:nvPr>
        </p:nvGraphicFramePr>
        <p:xfrm>
          <a:off x="1396480" y="1309550"/>
          <a:ext cx="9620565" cy="547836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325189">
                  <a:extLst>
                    <a:ext uri="{9D8B030D-6E8A-4147-A177-3AD203B41FA5}">
                      <a16:colId xmlns:a16="http://schemas.microsoft.com/office/drawing/2014/main" val="1046691492"/>
                    </a:ext>
                  </a:extLst>
                </a:gridCol>
                <a:gridCol w="3647688">
                  <a:extLst>
                    <a:ext uri="{9D8B030D-6E8A-4147-A177-3AD203B41FA5}">
                      <a16:colId xmlns:a16="http://schemas.microsoft.com/office/drawing/2014/main" val="1875094405"/>
                    </a:ext>
                  </a:extLst>
                </a:gridCol>
                <a:gridCol w="3647688">
                  <a:extLst>
                    <a:ext uri="{9D8B030D-6E8A-4147-A177-3AD203B41FA5}">
                      <a16:colId xmlns:a16="http://schemas.microsoft.com/office/drawing/2014/main" val="3694969651"/>
                    </a:ext>
                  </a:extLst>
                </a:gridCol>
              </a:tblGrid>
              <a:tr h="702902">
                <a:tc>
                  <a:txBody>
                    <a:bodyPr/>
                    <a:lstStyle/>
                    <a:p>
                      <a:pPr latinLnBrk="1"/>
                      <a:endParaRPr lang="ko-KR" altLang="en-US" sz="20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dirty="0"/>
                        <a:t>1</a:t>
                      </a:r>
                      <a:r>
                        <a:rPr lang="ko-KR" altLang="en-US" sz="1800" b="1" dirty="0"/>
                        <a:t>스테이지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dirty="0"/>
                        <a:t>2</a:t>
                      </a:r>
                      <a:r>
                        <a:rPr lang="ko-KR" altLang="en-US" sz="1800" b="1" dirty="0"/>
                        <a:t>스테이지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64954265"/>
                  </a:ext>
                </a:extLst>
              </a:tr>
              <a:tr h="5903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/>
                        <a:t>핵심 콘텐츠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/>
                        <a:t>파밍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운전 </a:t>
                      </a:r>
                      <a:r>
                        <a:rPr lang="en-US" altLang="ko-KR" sz="1600" dirty="0"/>
                        <a:t>&amp; </a:t>
                      </a:r>
                      <a:r>
                        <a:rPr lang="ko-KR" altLang="en-US" sz="1600" dirty="0"/>
                        <a:t>전투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28207071"/>
                  </a:ext>
                </a:extLst>
              </a:tr>
              <a:tr h="81642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/>
                        <a:t>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여러 주택이 모여 있는 마을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황폐하고 좀비가 깔린 도시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3487294"/>
                  </a:ext>
                </a:extLst>
              </a:tr>
              <a:tr h="155531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/>
                        <a:t>세부 </a:t>
                      </a:r>
                      <a:r>
                        <a:rPr lang="en-US" altLang="ko-KR" sz="1800" b="1" dirty="0"/>
                        <a:t>/ </a:t>
                      </a:r>
                      <a:r>
                        <a:rPr lang="ko-KR" altLang="en-US" sz="1800" b="1" dirty="0"/>
                        <a:t>기타 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 </a:t>
                      </a:r>
                      <a:r>
                        <a:rPr lang="en-US" altLang="ko-KR" sz="1600" dirty="0"/>
                        <a:t>- </a:t>
                      </a:r>
                      <a:r>
                        <a:rPr lang="ko-KR" altLang="en-US" sz="1600" dirty="0"/>
                        <a:t>시간 제한</a:t>
                      </a:r>
                      <a:r>
                        <a:rPr lang="en-US" altLang="ko-KR" sz="1600" dirty="0"/>
                        <a:t>O</a:t>
                      </a:r>
                    </a:p>
                    <a:p>
                      <a:pPr algn="ctr" latinLnBrk="1"/>
                      <a:r>
                        <a:rPr lang="en-US" altLang="ko-KR" sz="1600" dirty="0"/>
                        <a:t> - </a:t>
                      </a:r>
                      <a:r>
                        <a:rPr lang="ko-KR" altLang="en-US" sz="1600" dirty="0"/>
                        <a:t>탈출할 차 강화</a:t>
                      </a:r>
                      <a:r>
                        <a:rPr lang="en-US" altLang="ko-KR" sz="1600" dirty="0"/>
                        <a:t>(</a:t>
                      </a:r>
                      <a:r>
                        <a:rPr lang="ko-KR" altLang="en-US" sz="1600" dirty="0"/>
                        <a:t>기관총 장착</a:t>
                      </a:r>
                      <a:r>
                        <a:rPr lang="en-US" altLang="ko-KR" sz="1600" dirty="0"/>
                        <a:t>, </a:t>
                      </a:r>
                    </a:p>
                    <a:p>
                      <a:pPr algn="ctr" latinLnBrk="1"/>
                      <a:r>
                        <a:rPr lang="ko-KR" altLang="en-US" sz="1600" strike="sngStrike" dirty="0"/>
                        <a:t>좀비를 칠 수 있는 무기 장착</a:t>
                      </a:r>
                      <a:r>
                        <a:rPr lang="en-US" altLang="ko-KR" sz="1600" strike="sngStrike" dirty="0"/>
                        <a:t>)</a:t>
                      </a:r>
                    </a:p>
                    <a:p>
                      <a:pPr algn="ctr" latinLnBrk="1"/>
                      <a:r>
                        <a:rPr lang="en-US" altLang="ko-KR" sz="1600" dirty="0"/>
                        <a:t> - </a:t>
                      </a:r>
                      <a:r>
                        <a:rPr lang="ko-KR" altLang="en-US" sz="1600" dirty="0"/>
                        <a:t>무기 </a:t>
                      </a:r>
                      <a:r>
                        <a:rPr lang="ko-KR" altLang="en-US" sz="1600" dirty="0" err="1"/>
                        <a:t>파밍</a:t>
                      </a:r>
                      <a:endParaRPr lang="en-US" altLang="ko-KR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 - </a:t>
                      </a:r>
                      <a:r>
                        <a:rPr lang="ko-KR" altLang="en-US" sz="1600" dirty="0"/>
                        <a:t>차의 체력을 지키며 목적지</a:t>
                      </a:r>
                      <a:endParaRPr lang="en-US" altLang="ko-KR" sz="1600" dirty="0"/>
                    </a:p>
                    <a:p>
                      <a:pPr algn="ctr" latinLnBrk="1"/>
                      <a:r>
                        <a:rPr lang="en-US" altLang="ko-KR" sz="1600" dirty="0"/>
                        <a:t>(</a:t>
                      </a:r>
                      <a:r>
                        <a:rPr lang="ko-KR" altLang="en-US" sz="1600" dirty="0"/>
                        <a:t>다리</a:t>
                      </a:r>
                      <a:r>
                        <a:rPr lang="en-US" altLang="ko-KR" sz="1600" dirty="0"/>
                        <a:t>)</a:t>
                      </a:r>
                      <a:r>
                        <a:rPr lang="ko-KR" altLang="en-US" sz="1600" dirty="0"/>
                        <a:t>까지 도착</a:t>
                      </a:r>
                      <a:endParaRPr lang="en-US" altLang="ko-KR" sz="1600" dirty="0"/>
                    </a:p>
                    <a:p>
                      <a:pPr algn="ctr" latinLnBrk="1"/>
                      <a:r>
                        <a:rPr lang="en-US" altLang="ko-KR" sz="1600" dirty="0"/>
                        <a:t> - </a:t>
                      </a:r>
                      <a:r>
                        <a:rPr lang="ko-KR" altLang="en-US" sz="1600" dirty="0"/>
                        <a:t>중간마다 장애물</a:t>
                      </a:r>
                      <a:r>
                        <a:rPr lang="en-US" altLang="ko-KR" sz="1600" dirty="0"/>
                        <a:t>O</a:t>
                      </a:r>
                      <a:endParaRPr lang="ko-KR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9559009"/>
                  </a:ext>
                </a:extLst>
              </a:tr>
              <a:tr h="181339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/>
                        <a:t>핵심 콘텐츠 </a:t>
                      </a:r>
                      <a:endParaRPr lang="en-US" altLang="ko-KR" sz="1800" b="1" dirty="0"/>
                    </a:p>
                    <a:p>
                      <a:pPr algn="ctr" latinLnBrk="1"/>
                      <a:r>
                        <a:rPr lang="ko-KR" altLang="en-US" sz="1800" b="1" dirty="0"/>
                        <a:t>예시 사진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82525990"/>
                  </a:ext>
                </a:extLst>
              </a:tr>
            </a:tbl>
          </a:graphicData>
        </a:graphic>
      </p:graphicFrame>
      <p:pic>
        <p:nvPicPr>
          <p:cNvPr id="3" name="그림 2" descr="바퀴, 타이어, 차량, 육상 차량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015FADF-98F8-F15A-A76C-630C65C20D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38" y="5012411"/>
            <a:ext cx="2859939" cy="1747344"/>
          </a:xfrm>
          <a:prstGeom prst="rect">
            <a:avLst/>
          </a:prstGeom>
        </p:spPr>
      </p:pic>
      <p:pic>
        <p:nvPicPr>
          <p:cNvPr id="5" name="그림 4" descr="하늘, 육상 차량, 차량, 자동차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958AD6E-1D63-AD2B-42B5-A198BA6A8C5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598" t="3296" r="8544" b="8865"/>
          <a:stretch>
            <a:fillRect/>
          </a:stretch>
        </p:blipFill>
        <p:spPr>
          <a:xfrm>
            <a:off x="4241025" y="5025473"/>
            <a:ext cx="2775857" cy="1665977"/>
          </a:xfrm>
          <a:prstGeom prst="rect">
            <a:avLst/>
          </a:prstGeom>
        </p:spPr>
      </p:pic>
      <p:sp>
        <p:nvSpPr>
          <p:cNvPr id="10" name="제목 9">
            <a:extLst>
              <a:ext uri="{FF2B5EF4-FFF2-40B4-BE49-F238E27FC236}">
                <a16:creationId xmlns:a16="http://schemas.microsoft.com/office/drawing/2014/main" id="{A4B0D183-CAB6-BB53-6AA5-2416094419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3200" b="1" dirty="0" err="1"/>
              <a:t>ㅣ</a:t>
            </a:r>
            <a:r>
              <a:rPr lang="en-US" altLang="ko-KR" sz="3200" b="1" dirty="0"/>
              <a:t>01</a:t>
            </a:r>
            <a:r>
              <a:rPr lang="ko-KR" altLang="en-US" sz="3200" b="1" dirty="0"/>
              <a:t> 게임 소개 </a:t>
            </a:r>
            <a:r>
              <a:rPr lang="en-US" altLang="ko-KR" sz="3200" b="1" dirty="0"/>
              <a:t>- </a:t>
            </a:r>
            <a:r>
              <a:rPr lang="ko-KR" altLang="en-US" sz="2400" b="1" dirty="0"/>
              <a:t>플레이 흐름</a:t>
            </a:r>
            <a:br>
              <a:rPr lang="en-US" altLang="ko-KR" sz="2400" dirty="0"/>
            </a:br>
            <a:endParaRPr lang="ko-KR" altLang="en-US" sz="3200" dirty="0"/>
          </a:p>
        </p:txBody>
      </p:sp>
    </p:spTree>
    <p:extLst>
      <p:ext uri="{BB962C8B-B14F-4D97-AF65-F5344CB8AC3E}">
        <p14:creationId xmlns:p14="http://schemas.microsoft.com/office/powerpoint/2010/main" val="27106459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5">
            <a:extLst>
              <a:ext uri="{FF2B5EF4-FFF2-40B4-BE49-F238E27FC236}">
                <a16:creationId xmlns:a16="http://schemas.microsoft.com/office/drawing/2014/main" id="{BA63A173-FDBC-9FFC-5336-514FC5A67B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ko-KR" altLang="en-US" sz="3200" b="1" dirty="0" err="1"/>
              <a:t>ㅣ</a:t>
            </a:r>
            <a:r>
              <a:rPr lang="en-US" altLang="ko-KR" sz="3200" b="1" dirty="0"/>
              <a:t>02 </a:t>
            </a:r>
            <a:r>
              <a:rPr lang="ko-KR" altLang="en-US" sz="3200" b="1" dirty="0"/>
              <a:t>구성원 역할</a:t>
            </a:r>
            <a:br>
              <a:rPr lang="en-US" altLang="ko-KR" sz="2400" b="1" dirty="0"/>
            </a:br>
            <a:endParaRPr lang="ko-KR" altLang="en-US" sz="2800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AD3E18B4-41CC-391D-3213-9DC56A80BF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508064"/>
              </p:ext>
            </p:extLst>
          </p:nvPr>
        </p:nvGraphicFramePr>
        <p:xfrm>
          <a:off x="2032000" y="2243666"/>
          <a:ext cx="8127999" cy="3075585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3905047612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996957313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920513283"/>
                    </a:ext>
                  </a:extLst>
                </a:gridCol>
              </a:tblGrid>
              <a:tr h="61511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박신우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배주환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안윤진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89717679"/>
                  </a:ext>
                </a:extLst>
              </a:tr>
              <a:tr h="615117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18932012"/>
                  </a:ext>
                </a:extLst>
              </a:tr>
              <a:tr h="615117"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66279136"/>
                  </a:ext>
                </a:extLst>
              </a:tr>
              <a:tr h="615117"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8538121"/>
                  </a:ext>
                </a:extLst>
              </a:tr>
              <a:tr h="615117"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321051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138598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8F6352-A32D-8CBB-6900-C4BC7EA37B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3200" b="1" dirty="0" err="1"/>
              <a:t>ㅣ</a:t>
            </a:r>
            <a:r>
              <a:rPr lang="en-US" altLang="ko-KR" sz="3200" b="1" dirty="0"/>
              <a:t>03</a:t>
            </a:r>
            <a:r>
              <a:rPr lang="ko-KR" altLang="en-US" sz="3200" b="1" dirty="0"/>
              <a:t> 기술 요소</a:t>
            </a:r>
            <a:r>
              <a:rPr lang="en-US" altLang="ko-KR" sz="3200" b="1" dirty="0"/>
              <a:t>/</a:t>
            </a:r>
            <a:r>
              <a:rPr lang="ko-KR" altLang="en-US" sz="3200" b="1" dirty="0"/>
              <a:t>중점연구 분야</a:t>
            </a:r>
            <a:br>
              <a:rPr lang="en-US" altLang="ko-KR" sz="3200" b="1" dirty="0"/>
            </a:br>
            <a:endParaRPr lang="ko-KR" altLang="en-US" sz="3200" b="1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CD627390-4FD3-2D06-F2DE-423F4B665F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9234784"/>
              </p:ext>
            </p:extLst>
          </p:nvPr>
        </p:nvGraphicFramePr>
        <p:xfrm>
          <a:off x="651509" y="1880134"/>
          <a:ext cx="10888981" cy="394916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809018">
                  <a:extLst>
                    <a:ext uri="{9D8B030D-6E8A-4147-A177-3AD203B41FA5}">
                      <a16:colId xmlns:a16="http://schemas.microsoft.com/office/drawing/2014/main" val="2536590270"/>
                    </a:ext>
                  </a:extLst>
                </a:gridCol>
                <a:gridCol w="8079963">
                  <a:extLst>
                    <a:ext uri="{9D8B030D-6E8A-4147-A177-3AD203B41FA5}">
                      <a16:colId xmlns:a16="http://schemas.microsoft.com/office/drawing/2014/main" val="2650360707"/>
                    </a:ext>
                  </a:extLst>
                </a:gridCol>
              </a:tblGrid>
              <a:tr h="5919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박신우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 -</a:t>
                      </a:r>
                      <a:r>
                        <a:rPr lang="ko-KR" altLang="en-US" dirty="0"/>
                        <a:t> 좀비 피격 시 해당 위치의 분리</a:t>
                      </a:r>
                      <a:r>
                        <a:rPr lang="en-US" altLang="ko-KR" dirty="0"/>
                        <a:t>( </a:t>
                      </a:r>
                      <a:r>
                        <a:rPr lang="ko-KR" altLang="en-US" dirty="0" err="1"/>
                        <a:t>래그돌</a:t>
                      </a:r>
                      <a:r>
                        <a:rPr lang="ko-KR" altLang="en-US" dirty="0"/>
                        <a:t> 효과 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97055048"/>
                  </a:ext>
                </a:extLst>
              </a:tr>
              <a:tr h="233544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배주환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 - IOCP </a:t>
                      </a:r>
                      <a:r>
                        <a:rPr lang="ko-KR" altLang="en-US" dirty="0"/>
                        <a:t>기반 서버 구조 및 </a:t>
                      </a:r>
                      <a:r>
                        <a:rPr lang="ko-KR" altLang="en-US" dirty="0" err="1"/>
                        <a:t>멀티스레드</a:t>
                      </a:r>
                      <a:r>
                        <a:rPr lang="ko-KR" altLang="en-US" dirty="0"/>
                        <a:t> 병렬 처리</a:t>
                      </a:r>
                      <a:endParaRPr lang="en-US" altLang="ko-KR" dirty="0"/>
                    </a:p>
                    <a:p>
                      <a:pPr latinLnBrk="1"/>
                      <a:r>
                        <a:rPr lang="en-US" altLang="ko-KR" dirty="0"/>
                        <a:t> - NPC</a:t>
                      </a:r>
                      <a:r>
                        <a:rPr lang="ko-KR" altLang="en-US" dirty="0"/>
                        <a:t> </a:t>
                      </a:r>
                      <a:r>
                        <a:rPr lang="en-US" altLang="ko-KR" dirty="0"/>
                        <a:t>AI</a:t>
                      </a:r>
                      <a:r>
                        <a:rPr lang="ko-KR" altLang="en-US" dirty="0"/>
                        <a:t> 서버 처리 및 부하 최적화</a:t>
                      </a:r>
                      <a:endParaRPr lang="en-US" altLang="ko-KR" dirty="0"/>
                    </a:p>
                    <a:p>
                      <a:pPr latinLnBrk="1"/>
                      <a:r>
                        <a:rPr lang="en-US" altLang="ko-KR" dirty="0"/>
                        <a:t> - </a:t>
                      </a:r>
                      <a:r>
                        <a:rPr lang="ko-KR" altLang="en-US" dirty="0"/>
                        <a:t>실시간 동기화 성능 개선</a:t>
                      </a:r>
                      <a:endParaRPr lang="en-US" altLang="ko-KR" dirty="0"/>
                    </a:p>
                    <a:p>
                      <a:pPr latinLnBrk="1"/>
                      <a:r>
                        <a:rPr lang="en-US" altLang="ko-KR" dirty="0"/>
                        <a:t> - </a:t>
                      </a:r>
                      <a:r>
                        <a:rPr lang="ko-KR" altLang="en-US" dirty="0"/>
                        <a:t>서버 시간 충돌 판정</a:t>
                      </a: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클라 내부 판정 </a:t>
                      </a:r>
                      <a:r>
                        <a:rPr lang="en-US" altLang="ko-KR" dirty="0"/>
                        <a:t>X, </a:t>
                      </a:r>
                      <a:r>
                        <a:rPr lang="ko-KR" altLang="en-US" dirty="0"/>
                        <a:t>좌표</a:t>
                      </a:r>
                      <a:r>
                        <a:rPr lang="en-US" altLang="ko-KR" dirty="0"/>
                        <a:t>/</a:t>
                      </a:r>
                      <a:r>
                        <a:rPr lang="ko-KR" altLang="en-US" dirty="0"/>
                        <a:t>방향</a:t>
                      </a:r>
                      <a:r>
                        <a:rPr lang="en-US" altLang="ko-KR" dirty="0"/>
                        <a:t>/</a:t>
                      </a:r>
                      <a:r>
                        <a:rPr lang="ko-KR" altLang="en-US" dirty="0"/>
                        <a:t>탄도 기반으로 서버 내에서 피격 판정 </a:t>
                      </a:r>
                      <a:r>
                        <a:rPr lang="ko-KR" altLang="en-US" dirty="0" err="1"/>
                        <a:t>재검증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74802056"/>
                  </a:ext>
                </a:extLst>
              </a:tr>
              <a:tr h="102175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안윤진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 - </a:t>
                      </a:r>
                      <a:r>
                        <a:rPr lang="ko-KR" altLang="en-US" dirty="0" err="1"/>
                        <a:t>언리얼</a:t>
                      </a:r>
                      <a:r>
                        <a:rPr lang="ko-KR" altLang="en-US" dirty="0"/>
                        <a:t> 엔진</a:t>
                      </a:r>
                      <a:r>
                        <a:rPr lang="en-US" altLang="ko-KR" dirty="0"/>
                        <a:t>5</a:t>
                      </a:r>
                      <a:r>
                        <a:rPr lang="ko-KR" altLang="en-US" dirty="0"/>
                        <a:t>의 나이아가라 시스템을 통해 맵 환경 제작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피격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충돌 상황                 에 맞는 이펙트 제작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159038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138002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76EC99-B6DD-690C-9C40-CB511F066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098029-4BCB-AF54-D5F4-28F650452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3200" b="1" dirty="0" err="1"/>
              <a:t>ㅣ</a:t>
            </a:r>
            <a:r>
              <a:rPr lang="en-US" altLang="ko-KR" sz="3200" b="1" dirty="0"/>
              <a:t>03</a:t>
            </a:r>
            <a:r>
              <a:rPr lang="ko-KR" altLang="en-US" sz="3200" b="1" dirty="0"/>
              <a:t> 기술 요소</a:t>
            </a:r>
            <a:r>
              <a:rPr lang="en-US" altLang="ko-KR" sz="3200" b="1" dirty="0"/>
              <a:t>/</a:t>
            </a:r>
            <a:r>
              <a:rPr lang="ko-KR" altLang="en-US" sz="3200" b="1" dirty="0"/>
              <a:t>중점연구 분야</a:t>
            </a:r>
            <a:br>
              <a:rPr lang="en-US" altLang="ko-KR" sz="3200" b="1" dirty="0"/>
            </a:br>
            <a:endParaRPr lang="ko-KR" altLang="en-US" sz="3200" b="1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42AB5E67-4DA8-5689-ABFD-E2E654F6F8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5888455"/>
              </p:ext>
            </p:extLst>
          </p:nvPr>
        </p:nvGraphicFramePr>
        <p:xfrm>
          <a:off x="1089742" y="3059744"/>
          <a:ext cx="10012515" cy="2102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2503">
                  <a:extLst>
                    <a:ext uri="{9D8B030D-6E8A-4147-A177-3AD203B41FA5}">
                      <a16:colId xmlns:a16="http://schemas.microsoft.com/office/drawing/2014/main" val="3174496282"/>
                    </a:ext>
                  </a:extLst>
                </a:gridCol>
                <a:gridCol w="2002503">
                  <a:extLst>
                    <a:ext uri="{9D8B030D-6E8A-4147-A177-3AD203B41FA5}">
                      <a16:colId xmlns:a16="http://schemas.microsoft.com/office/drawing/2014/main" val="71352833"/>
                    </a:ext>
                  </a:extLst>
                </a:gridCol>
                <a:gridCol w="2002503">
                  <a:extLst>
                    <a:ext uri="{9D8B030D-6E8A-4147-A177-3AD203B41FA5}">
                      <a16:colId xmlns:a16="http://schemas.microsoft.com/office/drawing/2014/main" val="3956487614"/>
                    </a:ext>
                  </a:extLst>
                </a:gridCol>
                <a:gridCol w="2002503">
                  <a:extLst>
                    <a:ext uri="{9D8B030D-6E8A-4147-A177-3AD203B41FA5}">
                      <a16:colId xmlns:a16="http://schemas.microsoft.com/office/drawing/2014/main" val="4191048943"/>
                    </a:ext>
                  </a:extLst>
                </a:gridCol>
                <a:gridCol w="2002503">
                  <a:extLst>
                    <a:ext uri="{9D8B030D-6E8A-4147-A177-3AD203B41FA5}">
                      <a16:colId xmlns:a16="http://schemas.microsoft.com/office/drawing/2014/main" val="2487013601"/>
                    </a:ext>
                  </a:extLst>
                </a:gridCol>
              </a:tblGrid>
              <a:tr h="210219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레그돌</a:t>
                      </a:r>
                      <a:r>
                        <a:rPr lang="ko-KR" altLang="en-US" dirty="0"/>
                        <a:t> 효과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멀티 플레이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이펙트</a:t>
                      </a:r>
                      <a:endParaRPr lang="en-US" altLang="ko-K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171127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885103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D21F78-2673-D2D1-7789-0659598C26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ko-KR" altLang="en-US" sz="3200" b="1" dirty="0" err="1"/>
              <a:t>ㅣ</a:t>
            </a:r>
            <a:r>
              <a:rPr lang="en-US" altLang="ko-KR" sz="3200" b="1" dirty="0"/>
              <a:t>04</a:t>
            </a:r>
            <a:r>
              <a:rPr lang="ko-KR" altLang="en-US" sz="3200" b="1" dirty="0"/>
              <a:t> 연구 목적</a:t>
            </a:r>
            <a:br>
              <a:rPr lang="en-US" altLang="ko-KR" sz="3200" b="1" dirty="0"/>
            </a:br>
            <a:endParaRPr lang="ko-KR" altLang="en-US" sz="3200" b="1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43C478A1-F81B-75E5-9ED3-8B398F2AEF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0508112"/>
              </p:ext>
            </p:extLst>
          </p:nvPr>
        </p:nvGraphicFramePr>
        <p:xfrm>
          <a:off x="1746250" y="2016124"/>
          <a:ext cx="8699500" cy="3868207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8699500">
                  <a:extLst>
                    <a:ext uri="{9D8B030D-6E8A-4147-A177-3AD203B41FA5}">
                      <a16:colId xmlns:a16="http://schemas.microsoft.com/office/drawing/2014/main" val="737860128"/>
                    </a:ext>
                  </a:extLst>
                </a:gridCol>
              </a:tblGrid>
              <a:tr h="67554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0" dirty="0"/>
                        <a:t>Git </a:t>
                      </a:r>
                      <a:r>
                        <a:rPr lang="ko-KR" altLang="en-US" sz="1800" b="0" dirty="0"/>
                        <a:t>기반 버전</a:t>
                      </a:r>
                      <a:r>
                        <a:rPr lang="en-US" altLang="ko-KR" sz="1800" b="0" dirty="0"/>
                        <a:t>/</a:t>
                      </a:r>
                      <a:r>
                        <a:rPr lang="ko-KR" altLang="en-US" sz="1800" b="0" dirty="0" err="1"/>
                        <a:t>브랜치</a:t>
                      </a:r>
                      <a:r>
                        <a:rPr lang="ko-KR" altLang="en-US" sz="1800" b="0" dirty="0"/>
                        <a:t> 관리 경험을 통한 실무 소프트웨어 개발 역량 강화</a:t>
                      </a:r>
                      <a:endParaRPr lang="ko-KR" altLang="en-US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20826160"/>
                  </a:ext>
                </a:extLst>
              </a:tr>
              <a:tr h="116601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0" dirty="0"/>
                        <a:t>실시간 </a:t>
                      </a:r>
                      <a:r>
                        <a:rPr lang="ko-KR" altLang="en-US" sz="1800" b="0" dirty="0" err="1"/>
                        <a:t>메쉬</a:t>
                      </a:r>
                      <a:r>
                        <a:rPr lang="ko-KR" altLang="en-US" sz="1800" b="0" dirty="0"/>
                        <a:t> 갱신</a:t>
                      </a:r>
                      <a:r>
                        <a:rPr lang="en-US" altLang="ko-KR" sz="1800" b="0" dirty="0"/>
                        <a:t>, </a:t>
                      </a:r>
                      <a:r>
                        <a:rPr lang="ko-KR" altLang="en-US" sz="1800" b="0" dirty="0"/>
                        <a:t>렌더링 및 변형된 메시와 물리엔진 동기화 등 </a:t>
                      </a:r>
                      <a:endParaRPr lang="en-US" altLang="ko-KR" sz="1800" b="0" dirty="0"/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0" dirty="0"/>
                        <a:t>절차적 </a:t>
                      </a:r>
                      <a:r>
                        <a:rPr lang="ko-KR" altLang="en-US" sz="1800" b="0" dirty="0" err="1"/>
                        <a:t>메쉬</a:t>
                      </a:r>
                      <a:r>
                        <a:rPr lang="ko-KR" altLang="en-US" sz="1800" b="0" dirty="0"/>
                        <a:t> 기반의 기술적 도전 과제 해결</a:t>
                      </a:r>
                      <a:endParaRPr lang="en-US" altLang="ko-KR" sz="18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19873345"/>
                  </a:ext>
                </a:extLst>
              </a:tr>
              <a:tr h="67554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0" dirty="0"/>
                        <a:t>서버의 중점 연구를 통해 </a:t>
                      </a:r>
                      <a:r>
                        <a:rPr lang="ko-KR" altLang="en-US" sz="1800" b="0" dirty="0" err="1"/>
                        <a:t>치팅</a:t>
                      </a:r>
                      <a:r>
                        <a:rPr lang="ko-KR" altLang="en-US" sz="1800" b="0" dirty="0"/>
                        <a:t> 예방 서버를 구현하는 경험</a:t>
                      </a:r>
                      <a:endParaRPr lang="ko-KR" altLang="en-US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4458845"/>
                  </a:ext>
                </a:extLst>
              </a:tr>
              <a:tr h="67554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0" dirty="0"/>
                        <a:t>클라이언트 구조를 직접 설계하고 구현하여 네트워크 게임 개발 역량 강화</a:t>
                      </a:r>
                      <a:endParaRPr lang="ko-KR" altLang="en-US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0010572"/>
                  </a:ext>
                </a:extLst>
              </a:tr>
              <a:tr h="67554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0" dirty="0"/>
                        <a:t>다양한 이펙트 제작과 실제 플레이에 적용하는 경험</a:t>
                      </a:r>
                      <a:endParaRPr lang="ko-KR" altLang="en-US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382497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597179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48262E46-ED2E-8A90-EC0D-750D3CA5ED1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78049492"/>
              </p:ext>
            </p:extLst>
          </p:nvPr>
        </p:nvGraphicFramePr>
        <p:xfrm>
          <a:off x="1041400" y="1482725"/>
          <a:ext cx="10515600" cy="466725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1181270156"/>
                    </a:ext>
                  </a:extLst>
                </a:gridCol>
                <a:gridCol w="7315200">
                  <a:extLst>
                    <a:ext uri="{9D8B030D-6E8A-4147-A177-3AD203B41FA5}">
                      <a16:colId xmlns:a16="http://schemas.microsoft.com/office/drawing/2014/main" val="4199590253"/>
                    </a:ext>
                  </a:extLst>
                </a:gridCol>
              </a:tblGrid>
              <a:tr h="134831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박신우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 - </a:t>
                      </a:r>
                      <a:r>
                        <a:rPr lang="ko-KR" altLang="en-US" dirty="0"/>
                        <a:t>기본 캐릭터 기능 구현</a:t>
                      </a: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사격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이동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체력 컴포넌트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아이템 들기 등</a:t>
                      </a:r>
                      <a:r>
                        <a:rPr lang="en-US" altLang="ko-KR" dirty="0"/>
                        <a:t>)</a:t>
                      </a:r>
                    </a:p>
                    <a:p>
                      <a:pPr latinLnBrk="1"/>
                      <a:r>
                        <a:rPr lang="en-US" altLang="ko-KR" dirty="0"/>
                        <a:t> - </a:t>
                      </a:r>
                      <a:r>
                        <a:rPr lang="ko-KR" altLang="en-US" dirty="0"/>
                        <a:t>차량 관련 기능 구현</a:t>
                      </a: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운전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총기 부착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차량용 총기 기능</a:t>
                      </a:r>
                      <a:r>
                        <a:rPr lang="en-US" altLang="ko-KR" dirty="0"/>
                        <a:t> </a:t>
                      </a:r>
                      <a:r>
                        <a:rPr lang="ko-KR" altLang="en-US" dirty="0"/>
                        <a:t>등</a:t>
                      </a:r>
                      <a:r>
                        <a:rPr lang="en-US" altLang="ko-KR" dirty="0"/>
                        <a:t>)</a:t>
                      </a:r>
                    </a:p>
                    <a:p>
                      <a:pPr latinLnBrk="1"/>
                      <a:r>
                        <a:rPr lang="en-US" altLang="ko-KR" dirty="0"/>
                        <a:t> - </a:t>
                      </a:r>
                      <a:r>
                        <a:rPr lang="ko-KR" altLang="en-US" dirty="0"/>
                        <a:t>좀비 피격 시 해당 부위 분리</a:t>
                      </a:r>
                      <a:endParaRPr lang="en-US" altLang="ko-KR" dirty="0"/>
                    </a:p>
                    <a:p>
                      <a:pPr latinLnBrk="1"/>
                      <a:r>
                        <a:rPr lang="en-US" altLang="ko-KR" dirty="0"/>
                        <a:t> - </a:t>
                      </a:r>
                      <a:r>
                        <a:rPr lang="ko-KR" altLang="en-US" dirty="0"/>
                        <a:t>좀비 </a:t>
                      </a:r>
                      <a:r>
                        <a:rPr lang="en-US" altLang="ko-KR" dirty="0"/>
                        <a:t>AI </a:t>
                      </a:r>
                      <a:r>
                        <a:rPr lang="ko-KR" altLang="en-US" dirty="0"/>
                        <a:t>행동 트리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0433852"/>
                  </a:ext>
                </a:extLst>
              </a:tr>
              <a:tr h="165946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배주환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 - </a:t>
                      </a:r>
                      <a:r>
                        <a:rPr lang="ko-KR" altLang="en-US" dirty="0"/>
                        <a:t>리소스 수집</a:t>
                      </a:r>
                      <a:endParaRPr lang="en-US" altLang="ko-KR" dirty="0"/>
                    </a:p>
                    <a:p>
                      <a:pPr latinLnBrk="1"/>
                      <a:r>
                        <a:rPr lang="en-US" altLang="ko-KR" dirty="0"/>
                        <a:t> - IOCP </a:t>
                      </a:r>
                      <a:r>
                        <a:rPr lang="ko-KR" altLang="en-US" dirty="0"/>
                        <a:t>서버 기반 </a:t>
                      </a:r>
                      <a:r>
                        <a:rPr lang="ko-KR" altLang="en-US" dirty="0" err="1"/>
                        <a:t>멀티스레드</a:t>
                      </a:r>
                      <a:r>
                        <a:rPr lang="ko-KR" altLang="en-US" dirty="0"/>
                        <a:t> 병렬 처리 구현</a:t>
                      </a:r>
                      <a:endParaRPr lang="en-US" altLang="ko-KR" dirty="0"/>
                    </a:p>
                    <a:p>
                      <a:pPr latinLnBrk="1"/>
                      <a:r>
                        <a:rPr lang="en-US" altLang="ko-KR" dirty="0"/>
                        <a:t> - </a:t>
                      </a:r>
                      <a:r>
                        <a:rPr lang="ko-KR" altLang="en-US" dirty="0"/>
                        <a:t>서버 내 충돌처리 로직 구현</a:t>
                      </a:r>
                      <a:endParaRPr lang="en-US" altLang="ko-KR" dirty="0"/>
                    </a:p>
                    <a:p>
                      <a:pPr latinLnBrk="1"/>
                      <a:r>
                        <a:rPr lang="en-US" altLang="ko-KR" dirty="0"/>
                        <a:t> - </a:t>
                      </a:r>
                      <a:r>
                        <a:rPr lang="ko-KR" altLang="en-US" dirty="0"/>
                        <a:t>실시간 동기화 구현</a:t>
                      </a:r>
                      <a:endParaRPr lang="en-US" altLang="ko-KR" dirty="0"/>
                    </a:p>
                    <a:p>
                      <a:pPr latinLnBrk="1"/>
                      <a:r>
                        <a:rPr lang="en-US" altLang="ko-KR" dirty="0"/>
                        <a:t> - </a:t>
                      </a:r>
                      <a:r>
                        <a:rPr lang="ko-KR" altLang="en-US" dirty="0"/>
                        <a:t>좀비 </a:t>
                      </a:r>
                      <a:r>
                        <a:rPr lang="en-US" altLang="ko-KR" dirty="0"/>
                        <a:t>AI </a:t>
                      </a:r>
                      <a:r>
                        <a:rPr lang="ko-KR" altLang="en-US" dirty="0"/>
                        <a:t>관련 서버 처리</a:t>
                      </a:r>
                      <a:endParaRPr lang="en-US" altLang="ko-KR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4077464"/>
                  </a:ext>
                </a:extLst>
              </a:tr>
              <a:tr h="165946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안윤진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 - </a:t>
                      </a:r>
                      <a:r>
                        <a:rPr lang="ko-KR" altLang="en-US" dirty="0"/>
                        <a:t>좀비 애니메이션</a:t>
                      </a:r>
                      <a:endParaRPr lang="en-US" altLang="ko-KR" dirty="0"/>
                    </a:p>
                    <a:p>
                      <a:pPr latinLnBrk="1"/>
                      <a:r>
                        <a:rPr lang="en-US" altLang="ko-KR" dirty="0"/>
                        <a:t> - </a:t>
                      </a:r>
                      <a:r>
                        <a:rPr lang="ko-KR" altLang="en-US" dirty="0"/>
                        <a:t>차량 부분 연기 이펙트 구현</a:t>
                      </a:r>
                      <a:endParaRPr lang="en-US" altLang="ko-KR" dirty="0"/>
                    </a:p>
                    <a:p>
                      <a:pPr latinLnBrk="1"/>
                      <a:r>
                        <a:rPr lang="en-US" altLang="ko-KR" dirty="0"/>
                        <a:t> - </a:t>
                      </a:r>
                      <a:r>
                        <a:rPr lang="ko-KR" altLang="en-US" dirty="0"/>
                        <a:t>차</a:t>
                      </a:r>
                      <a:r>
                        <a:rPr lang="en-US" altLang="ko-KR" dirty="0"/>
                        <a:t>/</a:t>
                      </a:r>
                      <a:r>
                        <a:rPr lang="ko-KR" altLang="en-US" dirty="0"/>
                        <a:t>좀비 충돌 시 피 튀기는 효과 구현</a:t>
                      </a:r>
                      <a:endParaRPr lang="en-US" altLang="ko-KR" dirty="0"/>
                    </a:p>
                    <a:p>
                      <a:pPr latinLnBrk="1"/>
                      <a:r>
                        <a:rPr lang="en-US" altLang="ko-KR" dirty="0"/>
                        <a:t> - </a:t>
                      </a:r>
                      <a:r>
                        <a:rPr lang="ko-KR" altLang="en-US" dirty="0"/>
                        <a:t>맵 디자인</a:t>
                      </a:r>
                      <a:endParaRPr lang="en-US" altLang="ko-KR" dirty="0"/>
                    </a:p>
                    <a:p>
                      <a:pPr latinLnBrk="1"/>
                      <a:r>
                        <a:rPr lang="en-US" altLang="ko-KR" dirty="0"/>
                        <a:t> - </a:t>
                      </a:r>
                      <a:r>
                        <a:rPr lang="ko-KR" altLang="en-US" dirty="0"/>
                        <a:t>화면 </a:t>
                      </a:r>
                      <a:r>
                        <a:rPr lang="en-US" altLang="ko-KR" dirty="0"/>
                        <a:t>UI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55695334"/>
                  </a:ext>
                </a:extLst>
              </a:tr>
            </a:tbl>
          </a:graphicData>
        </a:graphic>
      </p:graphicFrame>
      <p:sp>
        <p:nvSpPr>
          <p:cNvPr id="5" name="제목 4">
            <a:extLst>
              <a:ext uri="{FF2B5EF4-FFF2-40B4-BE49-F238E27FC236}">
                <a16:creationId xmlns:a16="http://schemas.microsoft.com/office/drawing/2014/main" id="{D1B820CA-E8F7-568A-13B4-3E8D327210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3200" b="1" dirty="0" err="1"/>
              <a:t>ㅣ</a:t>
            </a:r>
            <a:r>
              <a:rPr lang="en-US" altLang="ko-KR" sz="3200" b="1" dirty="0"/>
              <a:t>05</a:t>
            </a:r>
            <a:r>
              <a:rPr lang="ko-KR" altLang="en-US" sz="3200" b="1" dirty="0"/>
              <a:t> 역할 분담</a:t>
            </a:r>
            <a:br>
              <a:rPr lang="en-US" altLang="ko-KR" sz="3200" b="1" dirty="0"/>
            </a:b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25782664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7A36F46C-D816-EDD5-8CF5-E96F701D21C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97002686"/>
              </p:ext>
            </p:extLst>
          </p:nvPr>
        </p:nvGraphicFramePr>
        <p:xfrm>
          <a:off x="388617" y="945147"/>
          <a:ext cx="11357487" cy="589530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54655">
                  <a:extLst>
                    <a:ext uri="{9D8B030D-6E8A-4147-A177-3AD203B41FA5}">
                      <a16:colId xmlns:a16="http://schemas.microsoft.com/office/drawing/2014/main" val="688046876"/>
                    </a:ext>
                  </a:extLst>
                </a:gridCol>
                <a:gridCol w="1050354">
                  <a:extLst>
                    <a:ext uri="{9D8B030D-6E8A-4147-A177-3AD203B41FA5}">
                      <a16:colId xmlns:a16="http://schemas.microsoft.com/office/drawing/2014/main" val="265708735"/>
                    </a:ext>
                  </a:extLst>
                </a:gridCol>
                <a:gridCol w="1050354">
                  <a:extLst>
                    <a:ext uri="{9D8B030D-6E8A-4147-A177-3AD203B41FA5}">
                      <a16:colId xmlns:a16="http://schemas.microsoft.com/office/drawing/2014/main" val="3471198270"/>
                    </a:ext>
                  </a:extLst>
                </a:gridCol>
                <a:gridCol w="1050354">
                  <a:extLst>
                    <a:ext uri="{9D8B030D-6E8A-4147-A177-3AD203B41FA5}">
                      <a16:colId xmlns:a16="http://schemas.microsoft.com/office/drawing/2014/main" val="2495761207"/>
                    </a:ext>
                  </a:extLst>
                </a:gridCol>
                <a:gridCol w="1050354">
                  <a:extLst>
                    <a:ext uri="{9D8B030D-6E8A-4147-A177-3AD203B41FA5}">
                      <a16:colId xmlns:a16="http://schemas.microsoft.com/office/drawing/2014/main" val="3306864403"/>
                    </a:ext>
                  </a:extLst>
                </a:gridCol>
                <a:gridCol w="1050354">
                  <a:extLst>
                    <a:ext uri="{9D8B030D-6E8A-4147-A177-3AD203B41FA5}">
                      <a16:colId xmlns:a16="http://schemas.microsoft.com/office/drawing/2014/main" val="954200664"/>
                    </a:ext>
                  </a:extLst>
                </a:gridCol>
                <a:gridCol w="1050354">
                  <a:extLst>
                    <a:ext uri="{9D8B030D-6E8A-4147-A177-3AD203B41FA5}">
                      <a16:colId xmlns:a16="http://schemas.microsoft.com/office/drawing/2014/main" val="148417192"/>
                    </a:ext>
                  </a:extLst>
                </a:gridCol>
                <a:gridCol w="1050354">
                  <a:extLst>
                    <a:ext uri="{9D8B030D-6E8A-4147-A177-3AD203B41FA5}">
                      <a16:colId xmlns:a16="http://schemas.microsoft.com/office/drawing/2014/main" val="1512490517"/>
                    </a:ext>
                  </a:extLst>
                </a:gridCol>
                <a:gridCol w="1050354">
                  <a:extLst>
                    <a:ext uri="{9D8B030D-6E8A-4147-A177-3AD203B41FA5}">
                      <a16:colId xmlns:a16="http://schemas.microsoft.com/office/drawing/2014/main" val="3378821971"/>
                    </a:ext>
                  </a:extLst>
                </a:gridCol>
              </a:tblGrid>
              <a:tr h="27986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 err="1"/>
                        <a:t>박신우</a:t>
                      </a:r>
                      <a:r>
                        <a:rPr lang="ko-KR" altLang="en-US" sz="1050" dirty="0"/>
                        <a:t> </a:t>
                      </a:r>
                      <a:r>
                        <a:rPr lang="en-US" altLang="ko-KR" sz="1050" dirty="0"/>
                        <a:t>: </a:t>
                      </a:r>
                      <a:r>
                        <a:rPr lang="ko-KR" altLang="en-US" sz="1050" dirty="0" err="1">
                          <a:solidFill>
                            <a:srgbClr val="FFFF00"/>
                          </a:solidFill>
                        </a:rPr>
                        <a:t>ㅇ</a:t>
                      </a:r>
                      <a:r>
                        <a:rPr lang="en-US" altLang="ko-KR" sz="1050" dirty="0"/>
                        <a:t>, </a:t>
                      </a:r>
                      <a:r>
                        <a:rPr lang="ko-KR" altLang="en-US" sz="1050" dirty="0"/>
                        <a:t>배주환 </a:t>
                      </a:r>
                      <a:r>
                        <a:rPr lang="en-US" altLang="ko-KR" sz="1050" dirty="0"/>
                        <a:t>: </a:t>
                      </a:r>
                      <a:r>
                        <a:rPr lang="ko-KR" altLang="en-US" sz="1050" dirty="0" err="1">
                          <a:solidFill>
                            <a:srgbClr val="00B050"/>
                          </a:solidFill>
                        </a:rPr>
                        <a:t>ㅇ</a:t>
                      </a:r>
                      <a:r>
                        <a:rPr lang="en-US" altLang="ko-KR" sz="1050" dirty="0"/>
                        <a:t>, </a:t>
                      </a:r>
                      <a:r>
                        <a:rPr lang="ko-KR" altLang="en-US" sz="1050" dirty="0" err="1"/>
                        <a:t>안윤진</a:t>
                      </a:r>
                      <a:r>
                        <a:rPr lang="ko-KR" altLang="en-US" sz="1050" dirty="0"/>
                        <a:t> </a:t>
                      </a:r>
                      <a:r>
                        <a:rPr lang="en-US" altLang="ko-KR" sz="1050" dirty="0"/>
                        <a:t>: </a:t>
                      </a:r>
                      <a:r>
                        <a:rPr lang="ko-KR" altLang="en-US" sz="1050" dirty="0" err="1">
                          <a:solidFill>
                            <a:srgbClr val="0070C0"/>
                          </a:solidFill>
                        </a:rPr>
                        <a:t>ㅇ</a:t>
                      </a:r>
                      <a:r>
                        <a:rPr lang="en-US" altLang="ko-KR" sz="105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050" dirty="0">
                          <a:solidFill>
                            <a:schemeClr val="tx1"/>
                          </a:solidFill>
                        </a:rPr>
                        <a:t>공통 </a:t>
                      </a:r>
                      <a:r>
                        <a:rPr lang="en-US" altLang="ko-KR" sz="105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050" dirty="0" err="1">
                          <a:solidFill>
                            <a:srgbClr val="FF0000"/>
                          </a:solidFill>
                        </a:rPr>
                        <a:t>ㅇ</a:t>
                      </a:r>
                      <a:endParaRPr lang="ko-KR" altLang="en-US" sz="105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</a:t>
                      </a:r>
                      <a:r>
                        <a:rPr lang="ko-KR" altLang="en-US" sz="1200" dirty="0"/>
                        <a:t>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2</a:t>
                      </a:r>
                      <a:r>
                        <a:rPr lang="ko-KR" altLang="en-US" sz="1200" dirty="0"/>
                        <a:t>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3</a:t>
                      </a:r>
                      <a:r>
                        <a:rPr lang="ko-KR" altLang="en-US" sz="1200" dirty="0"/>
                        <a:t>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4</a:t>
                      </a:r>
                      <a:r>
                        <a:rPr lang="ko-KR" altLang="en-US" sz="1200" dirty="0"/>
                        <a:t>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5</a:t>
                      </a:r>
                      <a:r>
                        <a:rPr lang="ko-KR" altLang="en-US" sz="1200" dirty="0"/>
                        <a:t>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6</a:t>
                      </a:r>
                      <a:r>
                        <a:rPr lang="ko-KR" altLang="en-US" sz="1200" dirty="0"/>
                        <a:t>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7</a:t>
                      </a:r>
                      <a:r>
                        <a:rPr lang="ko-KR" altLang="en-US" sz="1200" dirty="0"/>
                        <a:t>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8</a:t>
                      </a:r>
                      <a:r>
                        <a:rPr lang="ko-KR" altLang="en-US" sz="1200" dirty="0"/>
                        <a:t>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9834635"/>
                  </a:ext>
                </a:extLst>
              </a:tr>
              <a:tr h="279868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dirty="0"/>
                        <a:t>리소스 수집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ighlight>
                            <a:srgbClr val="FFFF00"/>
                          </a:highlight>
                        </a:rPr>
                        <a:t>70%</a:t>
                      </a:r>
                      <a:endParaRPr lang="ko-KR" altLang="en-US" sz="1200" dirty="0"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64814406"/>
                  </a:ext>
                </a:extLst>
              </a:tr>
              <a:tr h="279868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dirty="0"/>
                        <a:t>기본 캐릭터 기능</a:t>
                      </a:r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ighlight>
                            <a:srgbClr val="FFFF00"/>
                          </a:highlight>
                        </a:rPr>
                        <a:t>90% (</a:t>
                      </a:r>
                      <a:r>
                        <a:rPr lang="ko-KR" altLang="en-US" sz="1200" dirty="0">
                          <a:highlight>
                            <a:srgbClr val="FFFF00"/>
                          </a:highlight>
                        </a:rPr>
                        <a:t>애니메이션 부족</a:t>
                      </a:r>
                      <a:r>
                        <a:rPr lang="en-US" altLang="ko-KR" sz="1200" dirty="0">
                          <a:highlight>
                            <a:srgbClr val="FFFF00"/>
                          </a:highlight>
                        </a:rPr>
                        <a:t>)</a:t>
                      </a:r>
                      <a:endParaRPr lang="ko-KR" altLang="en-US" sz="1200" dirty="0"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kern="1200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0405791"/>
                  </a:ext>
                </a:extLst>
              </a:tr>
              <a:tr h="279868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dirty="0"/>
                        <a:t>차량 기능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90% (</a:t>
                      </a:r>
                      <a:r>
                        <a:rPr lang="ko-KR" altLang="en-US" sz="1200" dirty="0"/>
                        <a:t>버그존재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8013716"/>
                  </a:ext>
                </a:extLst>
              </a:tr>
              <a:tr h="279868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dirty="0"/>
                        <a:t>차량 충돌 기능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90%(</a:t>
                      </a:r>
                      <a:r>
                        <a:rPr lang="ko-KR" altLang="en-US" sz="1200" dirty="0"/>
                        <a:t>버그존재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9651276"/>
                  </a:ext>
                </a:extLst>
              </a:tr>
              <a:tr h="279868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dirty="0"/>
                        <a:t>차량 총기 기능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90%(</a:t>
                      </a:r>
                      <a:r>
                        <a:rPr lang="ko-KR" altLang="en-US" sz="1200" dirty="0" err="1"/>
                        <a:t>퀄리티부족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2360423"/>
                  </a:ext>
                </a:extLst>
              </a:tr>
              <a:tr h="30904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strike="sngStrike" dirty="0"/>
                        <a:t>차량 유탄 기관총 폭발 효과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strike="sngStrik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strike="sngStrik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strike="sngStrike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200" strike="noStrike" dirty="0"/>
                        <a:t>시간부족으로 삭제</a:t>
                      </a:r>
                    </a:p>
                  </a:txBody>
                  <a:tcPr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strike="sngStrik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strike="sngStrik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strike="sngStrik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7872532"/>
                  </a:ext>
                </a:extLst>
              </a:tr>
              <a:tr h="279868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dirty="0"/>
                        <a:t>차량 연기 이펙트 구현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90%(</a:t>
                      </a:r>
                      <a:r>
                        <a:rPr lang="ko-KR" altLang="en-US" sz="1200" dirty="0" err="1"/>
                        <a:t>퀄리티부족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1563057"/>
                  </a:ext>
                </a:extLst>
              </a:tr>
              <a:tr h="279868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dirty="0"/>
                        <a:t>차</a:t>
                      </a:r>
                      <a:r>
                        <a:rPr lang="en-US" altLang="ko-KR" sz="1200" dirty="0"/>
                        <a:t>/</a:t>
                      </a:r>
                      <a:r>
                        <a:rPr lang="ko-KR" altLang="en-US" sz="1200" dirty="0"/>
                        <a:t>좀비 충돌 시 </a:t>
                      </a:r>
                      <a:r>
                        <a:rPr lang="ko-KR" altLang="en-US" sz="1200" dirty="0" err="1"/>
                        <a:t>피튀기는</a:t>
                      </a:r>
                      <a:r>
                        <a:rPr lang="ko-KR" altLang="en-US" sz="1200" dirty="0"/>
                        <a:t> 효과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90%(</a:t>
                      </a:r>
                      <a:r>
                        <a:rPr lang="ko-KR" altLang="en-US" sz="1200" dirty="0" err="1"/>
                        <a:t>퀄리티부족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7080840"/>
                  </a:ext>
                </a:extLst>
              </a:tr>
              <a:tr h="279868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dirty="0"/>
                        <a:t>좀비 애니메이션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10%</a:t>
                      </a:r>
                      <a:endParaRPr lang="ko-KR" altLang="en-US" sz="1200" dirty="0"/>
                    </a:p>
                  </a:txBody>
                  <a:tcPr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7067297"/>
                  </a:ext>
                </a:extLst>
              </a:tr>
              <a:tr h="279868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dirty="0"/>
                        <a:t>좀비 기능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251274"/>
                  </a:ext>
                </a:extLst>
              </a:tr>
              <a:tr h="279868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dirty="0"/>
                        <a:t>좀비 </a:t>
                      </a:r>
                      <a:r>
                        <a:rPr lang="en-US" altLang="ko-KR" sz="1200" dirty="0"/>
                        <a:t>AI </a:t>
                      </a:r>
                      <a:r>
                        <a:rPr lang="ko-KR" altLang="en-US" sz="1200" dirty="0"/>
                        <a:t>행동 트리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60%(</a:t>
                      </a:r>
                      <a:r>
                        <a:rPr lang="ko-KR" altLang="en-US" sz="1200" dirty="0"/>
                        <a:t>기본기만구현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7620649"/>
                  </a:ext>
                </a:extLst>
              </a:tr>
              <a:tr h="279868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dirty="0"/>
                        <a:t>서버 프레임워크</a:t>
                      </a:r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90%(</a:t>
                      </a:r>
                      <a:r>
                        <a:rPr lang="ko-KR" altLang="en-US" sz="1200" dirty="0" err="1"/>
                        <a:t>클라개발에</a:t>
                      </a:r>
                      <a:r>
                        <a:rPr lang="ko-KR" altLang="en-US" sz="1200" dirty="0"/>
                        <a:t> 따라 추가예정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>
                    <a:solidFill>
                      <a:srgbClr val="00B05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>
                    <a:solidFill>
                      <a:srgbClr val="00B05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8931412"/>
                  </a:ext>
                </a:extLst>
              </a:tr>
              <a:tr h="279868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dirty="0"/>
                        <a:t>멀티 스레드 병렬처리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90%(</a:t>
                      </a:r>
                      <a:r>
                        <a:rPr lang="ko-KR" altLang="en-US" sz="1200" dirty="0" err="1"/>
                        <a:t>클라개발에</a:t>
                      </a:r>
                      <a:r>
                        <a:rPr lang="ko-KR" altLang="en-US" sz="1200" dirty="0"/>
                        <a:t> 따라 추가예정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>
                    <a:solidFill>
                      <a:srgbClr val="00B05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>
                    <a:solidFill>
                      <a:srgbClr val="00B05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>
                    <a:solidFill>
                      <a:srgbClr val="00B05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0000698"/>
                  </a:ext>
                </a:extLst>
              </a:tr>
              <a:tr h="279868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dirty="0"/>
                        <a:t>서버 내 충돌처리 로직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60%(</a:t>
                      </a:r>
                      <a:r>
                        <a:rPr lang="ko-KR" altLang="en-US" sz="1200" dirty="0" err="1"/>
                        <a:t>클라개발에</a:t>
                      </a:r>
                      <a:r>
                        <a:rPr lang="ko-KR" altLang="en-US" sz="1200" dirty="0"/>
                        <a:t> 따라 추가예정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>
                    <a:solidFill>
                      <a:srgbClr val="00B05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>
                    <a:solidFill>
                      <a:srgbClr val="00B05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>
                    <a:solidFill>
                      <a:srgbClr val="00B05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8549186"/>
                  </a:ext>
                </a:extLst>
              </a:tr>
              <a:tr h="279868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dirty="0"/>
                        <a:t>좀비 </a:t>
                      </a:r>
                      <a:r>
                        <a:rPr lang="en-US" altLang="ko-KR" sz="1200" dirty="0"/>
                        <a:t>AI </a:t>
                      </a:r>
                      <a:r>
                        <a:rPr lang="ko-KR" altLang="en-US" sz="1200" dirty="0"/>
                        <a:t>관련 서버 처리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0%</a:t>
                      </a:r>
                      <a:endParaRPr lang="ko-KR" altLang="en-US" sz="1200" dirty="0"/>
                    </a:p>
                  </a:txBody>
                  <a:tcPr>
                    <a:solidFill>
                      <a:srgbClr val="00B05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>
                    <a:solidFill>
                      <a:srgbClr val="00B05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460943"/>
                  </a:ext>
                </a:extLst>
              </a:tr>
              <a:tr h="279868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dirty="0"/>
                        <a:t>맵 디자인</a:t>
                      </a:r>
                    </a:p>
                  </a:txBody>
                  <a:tcPr/>
                </a:tc>
                <a:tc gridSpan="7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50%( </a:t>
                      </a:r>
                      <a:r>
                        <a:rPr lang="ko-KR" altLang="en-US" sz="1200" dirty="0"/>
                        <a:t>맵</a:t>
                      </a:r>
                      <a:r>
                        <a:rPr lang="en-US" altLang="ko-KR" sz="1200" dirty="0"/>
                        <a:t>1 90%</a:t>
                      </a:r>
                      <a:r>
                        <a:rPr lang="ko-KR" altLang="en-US" sz="1200" dirty="0"/>
                        <a:t>완료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맵</a:t>
                      </a:r>
                      <a:r>
                        <a:rPr lang="en-US" altLang="ko-KR" sz="1200" dirty="0"/>
                        <a:t>2 –</a:t>
                      </a:r>
                      <a:r>
                        <a:rPr lang="ko-KR" altLang="en-US" sz="1200" dirty="0"/>
                        <a:t>신우형 도움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8433632"/>
                  </a:ext>
                </a:extLst>
              </a:tr>
              <a:tr h="279868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dirty="0"/>
                        <a:t>화면 </a:t>
                      </a:r>
                      <a:r>
                        <a:rPr lang="en-US" altLang="ko-KR" sz="1200" dirty="0"/>
                        <a:t>UI</a:t>
                      </a:r>
                      <a:endParaRPr lang="ko-KR" altLang="en-US" sz="1200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70%(2</a:t>
                      </a:r>
                      <a:r>
                        <a:rPr lang="ko-KR" altLang="en-US" sz="1200" dirty="0" err="1"/>
                        <a:t>라운드미완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9403314"/>
                  </a:ext>
                </a:extLst>
              </a:tr>
              <a:tr h="246117">
                <a:tc rowSpan="2">
                  <a:txBody>
                    <a:bodyPr/>
                    <a:lstStyle/>
                    <a:p>
                      <a:pPr algn="l" latinLnBrk="1"/>
                      <a:r>
                        <a:rPr lang="ko-KR" altLang="en-US" sz="1200" dirty="0"/>
                        <a:t>사운드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게임 플레이</a:t>
                      </a: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 latinLnBrk="1"/>
                      <a:endParaRPr lang="ko-KR" altLang="en-US" sz="120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 latinLnBrk="1"/>
                      <a:endParaRPr lang="ko-KR" altLang="en-US" sz="120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 latinLnBrk="1"/>
                      <a:endParaRPr lang="ko-KR" altLang="en-US" sz="120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10%</a:t>
                      </a:r>
                      <a:endParaRPr lang="ko-KR" altLang="en-US" sz="1200" dirty="0"/>
                    </a:p>
                  </a:txBody>
                  <a:tcPr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>
                    <a:solidFill>
                      <a:srgbClr val="FFFF00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7112513"/>
                  </a:ext>
                </a:extLst>
              </a:tr>
              <a:tr h="24611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10%</a:t>
                      </a:r>
                      <a:endParaRPr lang="ko-KR" altLang="en-US" sz="1200" dirty="0"/>
                    </a:p>
                  </a:txBody>
                  <a:tcPr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>
                    <a:solidFill>
                      <a:srgbClr val="0070C0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8446170"/>
                  </a:ext>
                </a:extLst>
              </a:tr>
              <a:tr h="279868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dirty="0"/>
                        <a:t>테스트 및 버그수정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4264788"/>
                  </a:ext>
                </a:extLst>
              </a:tr>
            </a:tbl>
          </a:graphicData>
        </a:graphic>
      </p:graphicFrame>
      <p:sp>
        <p:nvSpPr>
          <p:cNvPr id="5" name="제목 4">
            <a:extLst>
              <a:ext uri="{FF2B5EF4-FFF2-40B4-BE49-F238E27FC236}">
                <a16:creationId xmlns:a16="http://schemas.microsoft.com/office/drawing/2014/main" id="{C55DAFBF-2D88-9EB2-2ED3-D00FD78DB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1925"/>
            <a:ext cx="10515600" cy="1325563"/>
          </a:xfrm>
        </p:spPr>
        <p:txBody>
          <a:bodyPr>
            <a:normAutofit/>
          </a:bodyPr>
          <a:lstStyle/>
          <a:p>
            <a:r>
              <a:rPr lang="ko-KR" altLang="en-US" sz="3200" b="1" dirty="0" err="1"/>
              <a:t>ㅣ</a:t>
            </a:r>
            <a:r>
              <a:rPr lang="en-US" altLang="ko-KR" sz="3200" b="1" dirty="0"/>
              <a:t>06</a:t>
            </a:r>
            <a:r>
              <a:rPr lang="ko-KR" altLang="en-US" sz="3200" b="1" dirty="0"/>
              <a:t> 현재 개발 진행도</a:t>
            </a:r>
            <a:br>
              <a:rPr lang="en-US" altLang="ko-KR" sz="3200" b="1" dirty="0"/>
            </a:br>
            <a:endParaRPr lang="ko-KR" altLang="en-US" sz="3600" b="1" dirty="0"/>
          </a:p>
        </p:txBody>
      </p:sp>
    </p:spTree>
    <p:extLst>
      <p:ext uri="{BB962C8B-B14F-4D97-AF65-F5344CB8AC3E}">
        <p14:creationId xmlns:p14="http://schemas.microsoft.com/office/powerpoint/2010/main" val="1430874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88DA71-7BF0-4C27-DE25-0F53750006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D2C86110-5861-753F-0B47-316F0436581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28771786"/>
              </p:ext>
            </p:extLst>
          </p:nvPr>
        </p:nvGraphicFramePr>
        <p:xfrm>
          <a:off x="2279762" y="945147"/>
          <a:ext cx="7156071" cy="558626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54655">
                  <a:extLst>
                    <a:ext uri="{9D8B030D-6E8A-4147-A177-3AD203B41FA5}">
                      <a16:colId xmlns:a16="http://schemas.microsoft.com/office/drawing/2014/main" val="688046876"/>
                    </a:ext>
                  </a:extLst>
                </a:gridCol>
                <a:gridCol w="1050354">
                  <a:extLst>
                    <a:ext uri="{9D8B030D-6E8A-4147-A177-3AD203B41FA5}">
                      <a16:colId xmlns:a16="http://schemas.microsoft.com/office/drawing/2014/main" val="954200664"/>
                    </a:ext>
                  </a:extLst>
                </a:gridCol>
                <a:gridCol w="1050354">
                  <a:extLst>
                    <a:ext uri="{9D8B030D-6E8A-4147-A177-3AD203B41FA5}">
                      <a16:colId xmlns:a16="http://schemas.microsoft.com/office/drawing/2014/main" val="148417192"/>
                    </a:ext>
                  </a:extLst>
                </a:gridCol>
                <a:gridCol w="1050354">
                  <a:extLst>
                    <a:ext uri="{9D8B030D-6E8A-4147-A177-3AD203B41FA5}">
                      <a16:colId xmlns:a16="http://schemas.microsoft.com/office/drawing/2014/main" val="1512490517"/>
                    </a:ext>
                  </a:extLst>
                </a:gridCol>
                <a:gridCol w="1050354">
                  <a:extLst>
                    <a:ext uri="{9D8B030D-6E8A-4147-A177-3AD203B41FA5}">
                      <a16:colId xmlns:a16="http://schemas.microsoft.com/office/drawing/2014/main" val="3378821971"/>
                    </a:ext>
                  </a:extLst>
                </a:gridCol>
              </a:tblGrid>
              <a:tr h="27986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 err="1"/>
                        <a:t>박신우</a:t>
                      </a:r>
                      <a:r>
                        <a:rPr lang="ko-KR" altLang="en-US" sz="1050" dirty="0"/>
                        <a:t> </a:t>
                      </a:r>
                      <a:r>
                        <a:rPr lang="en-US" altLang="ko-KR" sz="1050" dirty="0"/>
                        <a:t>: </a:t>
                      </a:r>
                      <a:r>
                        <a:rPr lang="ko-KR" altLang="en-US" sz="1050" dirty="0" err="1">
                          <a:solidFill>
                            <a:srgbClr val="FFFF00"/>
                          </a:solidFill>
                        </a:rPr>
                        <a:t>ㅇ</a:t>
                      </a:r>
                      <a:r>
                        <a:rPr lang="en-US" altLang="ko-KR" sz="1050" dirty="0"/>
                        <a:t>, </a:t>
                      </a:r>
                      <a:r>
                        <a:rPr lang="ko-KR" altLang="en-US" sz="1050" dirty="0"/>
                        <a:t>배주환 </a:t>
                      </a:r>
                      <a:r>
                        <a:rPr lang="en-US" altLang="ko-KR" sz="1050" dirty="0"/>
                        <a:t>: </a:t>
                      </a:r>
                      <a:r>
                        <a:rPr lang="ko-KR" altLang="en-US" sz="1050" dirty="0" err="1">
                          <a:solidFill>
                            <a:srgbClr val="00B050"/>
                          </a:solidFill>
                        </a:rPr>
                        <a:t>ㅇ</a:t>
                      </a:r>
                      <a:r>
                        <a:rPr lang="en-US" altLang="ko-KR" sz="1050" dirty="0"/>
                        <a:t>, </a:t>
                      </a:r>
                      <a:r>
                        <a:rPr lang="ko-KR" altLang="en-US" sz="1050" dirty="0" err="1"/>
                        <a:t>안윤진</a:t>
                      </a:r>
                      <a:r>
                        <a:rPr lang="ko-KR" altLang="en-US" sz="1050" dirty="0"/>
                        <a:t> </a:t>
                      </a:r>
                      <a:r>
                        <a:rPr lang="en-US" altLang="ko-KR" sz="1050" dirty="0"/>
                        <a:t>: </a:t>
                      </a:r>
                      <a:r>
                        <a:rPr lang="ko-KR" altLang="en-US" sz="1050" dirty="0" err="1">
                          <a:solidFill>
                            <a:srgbClr val="0070C0"/>
                          </a:solidFill>
                        </a:rPr>
                        <a:t>ㅇ</a:t>
                      </a:r>
                      <a:r>
                        <a:rPr lang="en-US" altLang="ko-KR" sz="105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050" dirty="0">
                          <a:solidFill>
                            <a:schemeClr val="tx1"/>
                          </a:solidFill>
                        </a:rPr>
                        <a:t>공통 </a:t>
                      </a:r>
                      <a:r>
                        <a:rPr lang="en-US" altLang="ko-KR" sz="105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050" dirty="0" err="1">
                          <a:solidFill>
                            <a:srgbClr val="FF0000"/>
                          </a:solidFill>
                        </a:rPr>
                        <a:t>ㅇ</a:t>
                      </a:r>
                      <a:endParaRPr lang="ko-KR" altLang="en-US" sz="105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5</a:t>
                      </a:r>
                      <a:r>
                        <a:rPr lang="ko-KR" altLang="en-US" sz="1200" dirty="0"/>
                        <a:t>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6</a:t>
                      </a:r>
                      <a:r>
                        <a:rPr lang="ko-KR" altLang="en-US" sz="1200" dirty="0"/>
                        <a:t>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7</a:t>
                      </a:r>
                      <a:r>
                        <a:rPr lang="ko-KR" altLang="en-US" sz="1200" dirty="0"/>
                        <a:t>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8</a:t>
                      </a:r>
                      <a:r>
                        <a:rPr lang="ko-KR" altLang="en-US" sz="1200" dirty="0"/>
                        <a:t>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9834635"/>
                  </a:ext>
                </a:extLst>
              </a:tr>
              <a:tr h="279868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dirty="0"/>
                        <a:t>리소스 수집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64814406"/>
                  </a:ext>
                </a:extLst>
              </a:tr>
              <a:tr h="279868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dirty="0"/>
                        <a:t>기본 캐릭터 기능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0405791"/>
                  </a:ext>
                </a:extLst>
              </a:tr>
              <a:tr h="279868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dirty="0"/>
                        <a:t>차량 기능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8013716"/>
                  </a:ext>
                </a:extLst>
              </a:tr>
              <a:tr h="279868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dirty="0"/>
                        <a:t>차량 충돌 기능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9651276"/>
                  </a:ext>
                </a:extLst>
              </a:tr>
              <a:tr h="279868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dirty="0"/>
                        <a:t>차량 총기 기능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2360423"/>
                  </a:ext>
                </a:extLst>
              </a:tr>
              <a:tr h="279868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dirty="0"/>
                        <a:t>차량 연기 이펙트 구현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1563057"/>
                  </a:ext>
                </a:extLst>
              </a:tr>
              <a:tr h="279868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dirty="0"/>
                        <a:t>차</a:t>
                      </a:r>
                      <a:r>
                        <a:rPr lang="en-US" altLang="ko-KR" sz="1200" dirty="0"/>
                        <a:t>/</a:t>
                      </a:r>
                      <a:r>
                        <a:rPr lang="ko-KR" altLang="en-US" sz="1200" dirty="0"/>
                        <a:t>좀비 충돌 시 </a:t>
                      </a:r>
                      <a:r>
                        <a:rPr lang="ko-KR" altLang="en-US" sz="1200" dirty="0" err="1"/>
                        <a:t>피튀기는</a:t>
                      </a:r>
                      <a:r>
                        <a:rPr lang="ko-KR" altLang="en-US" sz="1200" dirty="0"/>
                        <a:t> 효과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7080840"/>
                  </a:ext>
                </a:extLst>
              </a:tr>
              <a:tr h="279868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dirty="0"/>
                        <a:t>좀비 애니메이션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10%</a:t>
                      </a:r>
                      <a:endParaRPr lang="ko-KR" altLang="en-US" sz="1200" dirty="0"/>
                    </a:p>
                  </a:txBody>
                  <a:tcPr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7067297"/>
                  </a:ext>
                </a:extLst>
              </a:tr>
              <a:tr h="279868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dirty="0"/>
                        <a:t>좀비 기능</a:t>
                      </a:r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251274"/>
                  </a:ext>
                </a:extLst>
              </a:tr>
              <a:tr h="279868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dirty="0"/>
                        <a:t>좀비 </a:t>
                      </a:r>
                      <a:r>
                        <a:rPr lang="en-US" altLang="ko-KR" sz="1200" dirty="0"/>
                        <a:t>AI </a:t>
                      </a:r>
                      <a:r>
                        <a:rPr lang="ko-KR" altLang="en-US" sz="1200" dirty="0"/>
                        <a:t>행동 트리</a:t>
                      </a:r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60%(</a:t>
                      </a:r>
                      <a:r>
                        <a:rPr lang="ko-KR" altLang="en-US" sz="1200" dirty="0"/>
                        <a:t>기본기만구현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7620649"/>
                  </a:ext>
                </a:extLst>
              </a:tr>
              <a:tr h="279868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dirty="0"/>
                        <a:t>서버 프레임워크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8931412"/>
                  </a:ext>
                </a:extLst>
              </a:tr>
              <a:tr h="279868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dirty="0"/>
                        <a:t>멀티 스레드 병렬처리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0000698"/>
                  </a:ext>
                </a:extLst>
              </a:tr>
              <a:tr h="279868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dirty="0"/>
                        <a:t>서버 내 충돌처리 로직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8549186"/>
                  </a:ext>
                </a:extLst>
              </a:tr>
              <a:tr h="279868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dirty="0"/>
                        <a:t>좀비 </a:t>
                      </a:r>
                      <a:r>
                        <a:rPr lang="en-US" altLang="ko-KR" sz="1200" dirty="0"/>
                        <a:t>AI </a:t>
                      </a:r>
                      <a:r>
                        <a:rPr lang="ko-KR" altLang="en-US" sz="1200" dirty="0"/>
                        <a:t>관련 서버 처리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460943"/>
                  </a:ext>
                </a:extLst>
              </a:tr>
              <a:tr h="279868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dirty="0"/>
                        <a:t>맵 디자인</a:t>
                      </a:r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8433632"/>
                  </a:ext>
                </a:extLst>
              </a:tr>
              <a:tr h="279868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dirty="0"/>
                        <a:t>화면 </a:t>
                      </a:r>
                      <a:r>
                        <a:rPr lang="en-US" altLang="ko-KR" sz="1200" dirty="0"/>
                        <a:t>UI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9403314"/>
                  </a:ext>
                </a:extLst>
              </a:tr>
              <a:tr h="246117">
                <a:tc rowSpan="2">
                  <a:txBody>
                    <a:bodyPr/>
                    <a:lstStyle/>
                    <a:p>
                      <a:pPr algn="l" latinLnBrk="1"/>
                      <a:r>
                        <a:rPr lang="ko-KR" altLang="en-US" sz="1200" dirty="0"/>
                        <a:t>사운드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게임 플레이</a:t>
                      </a:r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>
                    <a:solidFill>
                      <a:srgbClr val="FFFF00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7112513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>
                    <a:solidFill>
                      <a:srgbClr val="0070C0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8446170"/>
                  </a:ext>
                </a:extLst>
              </a:tr>
              <a:tr h="279868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dirty="0"/>
                        <a:t>테스트 및 버그수정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4264788"/>
                  </a:ext>
                </a:extLst>
              </a:tr>
            </a:tbl>
          </a:graphicData>
        </a:graphic>
      </p:graphicFrame>
      <p:sp>
        <p:nvSpPr>
          <p:cNvPr id="5" name="제목 4">
            <a:extLst>
              <a:ext uri="{FF2B5EF4-FFF2-40B4-BE49-F238E27FC236}">
                <a16:creationId xmlns:a16="http://schemas.microsoft.com/office/drawing/2014/main" id="{6AA7E8E0-839C-3A38-B152-2F765172FA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1925"/>
            <a:ext cx="10515600" cy="1325563"/>
          </a:xfrm>
        </p:spPr>
        <p:txBody>
          <a:bodyPr>
            <a:normAutofit/>
          </a:bodyPr>
          <a:lstStyle/>
          <a:p>
            <a:r>
              <a:rPr lang="ko-KR" altLang="en-US" sz="3200" b="1" dirty="0" err="1"/>
              <a:t>ㅣ</a:t>
            </a:r>
            <a:r>
              <a:rPr lang="en-US" altLang="ko-KR" sz="3200" b="1" dirty="0"/>
              <a:t>06</a:t>
            </a:r>
            <a:r>
              <a:rPr lang="ko-KR" altLang="en-US" sz="3200" b="1" dirty="0"/>
              <a:t> 향후 개발 일정</a:t>
            </a:r>
            <a:br>
              <a:rPr lang="en-US" altLang="ko-KR" sz="3200" b="1" dirty="0"/>
            </a:br>
            <a:endParaRPr lang="ko-KR" altLang="en-US" sz="3600" b="1" dirty="0"/>
          </a:p>
        </p:txBody>
      </p:sp>
    </p:spTree>
    <p:extLst>
      <p:ext uri="{BB962C8B-B14F-4D97-AF65-F5344CB8AC3E}">
        <p14:creationId xmlns:p14="http://schemas.microsoft.com/office/powerpoint/2010/main" val="41669510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3DC59E-3A41-CC13-7B4B-4C5C08118D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3200" b="1" dirty="0" err="1"/>
              <a:t>ㅣ</a:t>
            </a:r>
            <a:r>
              <a:rPr lang="en-US" altLang="ko-KR" sz="3200" b="1" dirty="0"/>
              <a:t>07</a:t>
            </a:r>
            <a:r>
              <a:rPr lang="ko-KR" altLang="en-US" sz="3200" b="1" dirty="0"/>
              <a:t> </a:t>
            </a:r>
            <a:r>
              <a:rPr lang="en-US" altLang="ko-KR" sz="3200" b="1" dirty="0"/>
              <a:t>Q&amp;A</a:t>
            </a:r>
            <a:br>
              <a:rPr lang="en-US" altLang="ko-KR" sz="3200" b="1" dirty="0"/>
            </a:br>
            <a:endParaRPr lang="ko-KR" altLang="en-US" sz="3200" b="1" dirty="0"/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987FDDDB-CB69-22AC-A63A-2DF87779088C}"/>
              </a:ext>
            </a:extLst>
          </p:cNvPr>
          <p:cNvSpPr txBox="1">
            <a:spLocks/>
          </p:cNvSpPr>
          <p:nvPr/>
        </p:nvSpPr>
        <p:spPr>
          <a:xfrm>
            <a:off x="5327650" y="3048000"/>
            <a:ext cx="153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3200" b="1" dirty="0"/>
              <a:t>Q&amp;A</a:t>
            </a:r>
            <a:br>
              <a:rPr lang="en-US" altLang="ko-KR" sz="3200" b="1" dirty="0"/>
            </a:b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33539291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2F2763-9C46-7DB1-6C9C-270C84E67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78BE4524-CD66-D862-1B98-7A25C121622C}"/>
              </a:ext>
            </a:extLst>
          </p:cNvPr>
          <p:cNvSpPr txBox="1">
            <a:spLocks/>
          </p:cNvSpPr>
          <p:nvPr/>
        </p:nvSpPr>
        <p:spPr>
          <a:xfrm>
            <a:off x="4670425" y="3048000"/>
            <a:ext cx="285115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3200" b="1"/>
              <a:t>감사합니다</a:t>
            </a:r>
            <a:br>
              <a:rPr lang="en-US" altLang="ko-KR" sz="3200" b="1" dirty="0"/>
            </a:b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6309881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536</TotalTime>
  <Words>791</Words>
  <Application>Microsoft Office PowerPoint</Application>
  <PresentationFormat>와이드스크린</PresentationFormat>
  <Paragraphs>168</Paragraphs>
  <Slides>14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7" baseType="lpstr">
      <vt:lpstr>맑은 고딕</vt:lpstr>
      <vt:lpstr>Arial</vt:lpstr>
      <vt:lpstr>Office 테마</vt:lpstr>
      <vt:lpstr>Infection : City of Death  감염 : 죽음의 도시</vt:lpstr>
      <vt:lpstr>ㅣ 목차</vt:lpstr>
      <vt:lpstr>ㅣ01 게임 소개 – 기본 설명 </vt:lpstr>
      <vt:lpstr>PowerPoint 프레젠테이션</vt:lpstr>
      <vt:lpstr>ㅣ01 게임 소개 - 플레이 흐름 </vt:lpstr>
      <vt:lpstr>ㅣ02 구성원 역할 </vt:lpstr>
      <vt:lpstr>ㅣ03 기술 요소/중점연구 분야 </vt:lpstr>
      <vt:lpstr>ㅣ03 기술 요소/중점연구 분야 </vt:lpstr>
      <vt:lpstr>ㅣ04 연구 목적 </vt:lpstr>
      <vt:lpstr>ㅣ05 역할 분담 </vt:lpstr>
      <vt:lpstr>ㅣ06 현재 개발 진행도 </vt:lpstr>
      <vt:lpstr>ㅣ06 향후 개발 일정 </vt:lpstr>
      <vt:lpstr>ㅣ07 Q&amp;A 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배주환(2021184015)</dc:creator>
  <cp:lastModifiedBy>윤진 안</cp:lastModifiedBy>
  <cp:revision>24</cp:revision>
  <dcterms:created xsi:type="dcterms:W3CDTF">2025-12-20T14:57:21Z</dcterms:created>
  <dcterms:modified xsi:type="dcterms:W3CDTF">2026-05-04T07:41:52Z</dcterms:modified>
</cp:coreProperties>
</file>